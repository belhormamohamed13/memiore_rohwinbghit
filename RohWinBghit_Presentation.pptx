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image" Target="../media/image-12-8.png"/><Relationship Id="rId9" Type="http://schemas.openxmlformats.org/officeDocument/2006/relationships/image" Target="../media/image-12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image" Target="../media/image-23-2.jpg"/><Relationship Id="rId3" Type="http://schemas.openxmlformats.org/officeDocument/2006/relationships/image" Target="../media/image-23-3.jpg"/><Relationship Id="rId4" Type="http://schemas.openxmlformats.org/officeDocument/2006/relationships/image" Target="../media/image-23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3A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0" y="365760"/>
            <a:ext cx="4114800" cy="411480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algn="l" indent="0" marL="0">
              <a:buNone/>
            </a:pPr>
            <a:r>
              <a:rPr lang="en-US" sz="22000" b="1" dirty="0">
                <a:solidFill>
                  <a:srgbClr val="163F2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220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166E3A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411480"/>
            <a:ext cx="292608" cy="32004"/>
          </a:xfrm>
          <a:prstGeom prst="rect">
            <a:avLst/>
          </a:prstGeom>
          <a:solidFill>
            <a:srgbClr val="4CC080"/>
          </a:solidFill>
          <a:ln w="12700">
            <a:solidFill>
              <a:srgbClr val="4CC0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347472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CC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DÉBUT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955280" y="347472"/>
            <a:ext cx="713232" cy="274320"/>
          </a:xfrm>
          <a:prstGeom prst="roundRect">
            <a:avLst>
              <a:gd name="adj" fmla="val 50000"/>
            </a:avLst>
          </a:prstGeom>
          <a:solidFill>
            <a:srgbClr val="0A1F14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0" y="347472"/>
            <a:ext cx="7132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CC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01/31</a:t>
            </a:r>
            <a:endParaRPr lang="en-US" sz="900" dirty="0"/>
          </a:p>
        </p:txBody>
      </p:sp>
      <p:pic>
        <p:nvPicPr>
          <p:cNvPr id="8" name="Image 0" descr="/Users/mohamed/Downloads/RohWinBghit_LaTeX_Complet/Screen_mobile/univ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15384" y="676656"/>
            <a:ext cx="713232" cy="713232"/>
          </a:xfrm>
          <a:prstGeom prst="rect">
            <a:avLst/>
          </a:prstGeom>
        </p:spPr>
      </p:pic>
      <p:pic>
        <p:nvPicPr>
          <p:cNvPr id="9" name="Image 1" descr="/Users/mohamed/Downloads/RohWinBghit_LaTeX_Complet/Screen_mobile/logo_bu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2536" y="1673352"/>
            <a:ext cx="713232" cy="71323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2862072" y="1600200"/>
            <a:ext cx="5029200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RohWinBghit — روح وين بغيت</a:t>
            </a:r>
            <a:endParaRPr lang="en-US" sz="4000" dirty="0"/>
          </a:p>
        </p:txBody>
      </p:sp>
      <p:sp>
        <p:nvSpPr>
          <p:cNvPr id="11" name="Text 7"/>
          <p:cNvSpPr/>
          <p:nvPr/>
        </p:nvSpPr>
        <p:spPr>
          <a:xfrm>
            <a:off x="457200" y="256032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Plateforme mobile multiplateforme intelligente de covoiturage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inter-wilayas sécurisée adaptée au contexte algérien</a:t>
            </a:r>
            <a:endParaRPr lang="en-US" sz="2200" dirty="0"/>
          </a:p>
        </p:txBody>
      </p:sp>
      <p:sp>
        <p:nvSpPr>
          <p:cNvPr id="12" name="Text 8"/>
          <p:cNvSpPr/>
          <p:nvPr/>
        </p:nvSpPr>
        <p:spPr>
          <a:xfrm>
            <a:off x="457200" y="347472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CC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Mémoire de Master en Génie Logiciel — Arrêté 1275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4CC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Université Abou Bekr Belkaïd — Tlemcen — Année 2024/2025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457200" y="39776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Présenté par : AHMED BACHA Djamel Eddine &amp; BELHORMA Sidi Mohammed Reduane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Encadré par : Mme BENLEDGHEM Rafika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0" y="4681728"/>
            <a:ext cx="9144000" cy="457200"/>
          </a:xfrm>
          <a:prstGeom prst="rect">
            <a:avLst/>
          </a:prstGeom>
          <a:solidFill>
            <a:srgbClr val="166E3A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0" y="4681728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300" kern="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  •   SÛR   •   ABORDABLE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0" y="365760"/>
            <a:ext cx="4114800" cy="411480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algn="l" indent="0" marL="0">
              <a:buNone/>
            </a:pPr>
            <a:r>
              <a:rPr lang="en-US" sz="22000" b="1" dirty="0">
                <a:solidFill>
                  <a:srgbClr val="ECEA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220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166E3A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411480"/>
            <a:ext cx="292608" cy="32004"/>
          </a:xfrm>
          <a:prstGeom prst="rect">
            <a:avLst/>
          </a:prstGeom>
          <a:solidFill>
            <a:srgbClr val="4CC080"/>
          </a:solidFill>
          <a:ln w="12700">
            <a:solidFill>
              <a:srgbClr val="4CC0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347472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66E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PLAN DE LA PRÉSENTATION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955280" y="347472"/>
            <a:ext cx="713232" cy="274320"/>
          </a:xfrm>
          <a:prstGeom prst="roundRect">
            <a:avLst>
              <a:gd name="adj" fmla="val 50000"/>
            </a:avLst>
          </a:prstGeom>
          <a:solidFill>
            <a:srgbClr val="0F3A23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0" y="347472"/>
            <a:ext cx="7132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CC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02/31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6858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de la Présentation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411480" y="1417320"/>
            <a:ext cx="192024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4CC080"/>
            </a:solidFill>
            <a:prstDash val="solid"/>
          </a:ln>
          <a:effectLst>
            <a:outerShdw sx="100000" sy="100000" kx="0" ky="0" algn="bl" rotWithShape="0" blurRad="76200" dist="12700" dir="8100000">
              <a:srgbClr val="0A1F14">
                <a:alpha val="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" y="2843784"/>
            <a:ext cx="1828800" cy="36576"/>
          </a:xfrm>
          <a:prstGeom prst="rect">
            <a:avLst/>
          </a:prstGeom>
          <a:solidFill>
            <a:srgbClr val="4CC080"/>
          </a:solidFill>
          <a:ln w="12700">
            <a:solidFill>
              <a:srgbClr val="4CC08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65860" y="1490472"/>
            <a:ext cx="411480" cy="201168"/>
          </a:xfrm>
          <a:prstGeom prst="roundRect">
            <a:avLst>
              <a:gd name="adj" fmla="val 50000"/>
            </a:avLst>
          </a:prstGeom>
          <a:solidFill>
            <a:srgbClr val="0F3A23"/>
          </a:solidFill>
          <a:ln w="12700">
            <a:solidFill>
              <a:srgbClr val="0F3A2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5860" y="1490472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CC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1197864" y="1746504"/>
            <a:ext cx="347472" cy="347472"/>
          </a:xfrm>
          <a:prstGeom prst="roundRect">
            <a:avLst>
              <a:gd name="adj" fmla="val 15789"/>
            </a:avLst>
          </a:prstGeom>
          <a:solidFill>
            <a:srgbClr val="F0F7F2"/>
          </a:solidFill>
          <a:ln w="12700">
            <a:solidFill>
              <a:srgbClr val="F0F7F2"/>
            </a:solidFill>
            <a:prstDash val="solid"/>
          </a:ln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61872" y="1810512"/>
            <a:ext cx="219456" cy="219456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457200" y="213055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&amp; Contexte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57200" y="25603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Mobilité inter-wilayas • Chiffres clés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2468880" y="1417320"/>
            <a:ext cx="192024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  <a:effectLst>
            <a:outerShdw sx="100000" sy="100000" kx="0" ky="0" algn="bl" rotWithShape="0" blurRad="76200" dist="12700" dir="8100000">
              <a:srgbClr val="0A1F14">
                <a:alpha val="4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3223260" y="1490472"/>
            <a:ext cx="411480" cy="201168"/>
          </a:xfrm>
          <a:prstGeom prst="roundRect">
            <a:avLst>
              <a:gd name="adj" fmla="val 50000"/>
            </a:avLst>
          </a:prstGeom>
          <a:solidFill>
            <a:srgbClr val="0F3A23"/>
          </a:solidFill>
          <a:ln w="12700">
            <a:solidFill>
              <a:srgbClr val="0F3A2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223260" y="1490472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CC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3255264" y="1746504"/>
            <a:ext cx="347472" cy="347472"/>
          </a:xfrm>
          <a:prstGeom prst="roundRect">
            <a:avLst>
              <a:gd name="adj" fmla="val 15789"/>
            </a:avLst>
          </a:prstGeom>
          <a:solidFill>
            <a:srgbClr val="F0F7F2"/>
          </a:solidFill>
          <a:ln w="12700">
            <a:solidFill>
              <a:srgbClr val="F0F7F2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9272" y="1810512"/>
            <a:ext cx="219456" cy="219456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2514600" y="213055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Problématique &amp; Objectifs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2514600" y="25603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Confiance • KYC • Hypothèses</a:t>
            </a:r>
            <a:endParaRPr lang="en-US" sz="850" dirty="0"/>
          </a:p>
        </p:txBody>
      </p:sp>
      <p:sp>
        <p:nvSpPr>
          <p:cNvPr id="24" name="Shape 20"/>
          <p:cNvSpPr/>
          <p:nvPr/>
        </p:nvSpPr>
        <p:spPr>
          <a:xfrm>
            <a:off x="4526280" y="1417320"/>
            <a:ext cx="192024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  <a:effectLst>
            <a:outerShdw sx="100000" sy="100000" kx="0" ky="0" algn="bl" rotWithShape="0" blurRad="76200" dist="12700" dir="8100000">
              <a:srgbClr val="0A1F14">
                <a:alpha val="4000"/>
              </a:srgbClr>
            </a:outerShdw>
          </a:effectLst>
        </p:spPr>
      </p:sp>
      <p:sp>
        <p:nvSpPr>
          <p:cNvPr id="25" name="Shape 21"/>
          <p:cNvSpPr/>
          <p:nvPr/>
        </p:nvSpPr>
        <p:spPr>
          <a:xfrm>
            <a:off x="5280660" y="1490472"/>
            <a:ext cx="411480" cy="201168"/>
          </a:xfrm>
          <a:prstGeom prst="roundRect">
            <a:avLst>
              <a:gd name="adj" fmla="val 50000"/>
            </a:avLst>
          </a:prstGeom>
          <a:solidFill>
            <a:srgbClr val="0F3A23"/>
          </a:solidFill>
          <a:ln w="12700">
            <a:solidFill>
              <a:srgbClr val="0F3A23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5280660" y="1490472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CC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950" dirty="0"/>
          </a:p>
        </p:txBody>
      </p:sp>
      <p:sp>
        <p:nvSpPr>
          <p:cNvPr id="27" name="Shape 23"/>
          <p:cNvSpPr/>
          <p:nvPr/>
        </p:nvSpPr>
        <p:spPr>
          <a:xfrm>
            <a:off x="5312664" y="1746504"/>
            <a:ext cx="347472" cy="347472"/>
          </a:xfrm>
          <a:prstGeom prst="roundRect">
            <a:avLst>
              <a:gd name="adj" fmla="val 15789"/>
            </a:avLst>
          </a:prstGeom>
          <a:solidFill>
            <a:srgbClr val="F0F7F2"/>
          </a:solidFill>
          <a:ln w="12700">
            <a:solidFill>
              <a:srgbClr val="F0F7F2"/>
            </a:solidFill>
            <a:prstDash val="solid"/>
          </a:ln>
        </p:spPr>
      </p:sp>
      <p:pic>
        <p:nvPicPr>
          <p:cNvPr id="2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6672" y="1810512"/>
            <a:ext cx="219456" cy="219456"/>
          </a:xfrm>
          <a:prstGeom prst="rect">
            <a:avLst/>
          </a:prstGeom>
        </p:spPr>
      </p:pic>
      <p:sp>
        <p:nvSpPr>
          <p:cNvPr id="29" name="Text 24"/>
          <p:cNvSpPr/>
          <p:nvPr/>
        </p:nvSpPr>
        <p:spPr>
          <a:xfrm>
            <a:off x="4572000" y="213055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Étude de l'Existant</a:t>
            </a:r>
            <a:endParaRPr lang="en-US" sz="1200" dirty="0"/>
          </a:p>
        </p:txBody>
      </p:sp>
      <p:sp>
        <p:nvSpPr>
          <p:cNvPr id="30" name="Text 25"/>
          <p:cNvSpPr/>
          <p:nvPr/>
        </p:nvSpPr>
        <p:spPr>
          <a:xfrm>
            <a:off x="4572000" y="25603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Concurrence • Gaps • Loi 25-11</a:t>
            </a:r>
            <a:endParaRPr lang="en-US" sz="850" dirty="0"/>
          </a:p>
        </p:txBody>
      </p:sp>
      <p:sp>
        <p:nvSpPr>
          <p:cNvPr id="31" name="Shape 26"/>
          <p:cNvSpPr/>
          <p:nvPr/>
        </p:nvSpPr>
        <p:spPr>
          <a:xfrm>
            <a:off x="6583680" y="1417320"/>
            <a:ext cx="192024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  <a:effectLst>
            <a:outerShdw sx="100000" sy="100000" kx="0" ky="0" algn="bl" rotWithShape="0" blurRad="76200" dist="12700" dir="8100000">
              <a:srgbClr val="0A1F14">
                <a:alpha val="4000"/>
              </a:srgbClr>
            </a:outerShdw>
          </a:effectLst>
        </p:spPr>
      </p:sp>
      <p:sp>
        <p:nvSpPr>
          <p:cNvPr id="32" name="Shape 27"/>
          <p:cNvSpPr/>
          <p:nvPr/>
        </p:nvSpPr>
        <p:spPr>
          <a:xfrm>
            <a:off x="7338060" y="1490472"/>
            <a:ext cx="411480" cy="201168"/>
          </a:xfrm>
          <a:prstGeom prst="roundRect">
            <a:avLst>
              <a:gd name="adj" fmla="val 50000"/>
            </a:avLst>
          </a:prstGeom>
          <a:solidFill>
            <a:srgbClr val="0F3A23"/>
          </a:solidFill>
          <a:ln w="12700">
            <a:solidFill>
              <a:srgbClr val="0F3A23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7338060" y="1490472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CC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950" dirty="0"/>
          </a:p>
        </p:txBody>
      </p:sp>
      <p:sp>
        <p:nvSpPr>
          <p:cNvPr id="34" name="Shape 29"/>
          <p:cNvSpPr/>
          <p:nvPr/>
        </p:nvSpPr>
        <p:spPr>
          <a:xfrm>
            <a:off x="7370064" y="1746504"/>
            <a:ext cx="347472" cy="347472"/>
          </a:xfrm>
          <a:prstGeom prst="roundRect">
            <a:avLst>
              <a:gd name="adj" fmla="val 15789"/>
            </a:avLst>
          </a:prstGeom>
          <a:solidFill>
            <a:srgbClr val="F0F7F2"/>
          </a:solidFill>
          <a:ln w="12700">
            <a:solidFill>
              <a:srgbClr val="F0F7F2"/>
            </a:solidFill>
            <a:prstDash val="solid"/>
          </a:ln>
        </p:spPr>
      </p:sp>
      <p:pic>
        <p:nvPicPr>
          <p:cNvPr id="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34072" y="1810512"/>
            <a:ext cx="219456" cy="219456"/>
          </a:xfrm>
          <a:prstGeom prst="rect">
            <a:avLst/>
          </a:prstGeom>
        </p:spPr>
      </p:pic>
      <p:sp>
        <p:nvSpPr>
          <p:cNvPr id="36" name="Text 30"/>
          <p:cNvSpPr/>
          <p:nvPr/>
        </p:nvSpPr>
        <p:spPr>
          <a:xfrm>
            <a:off x="6629400" y="213055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&amp; Conception</a:t>
            </a:r>
            <a:endParaRPr lang="en-US" sz="1200" dirty="0"/>
          </a:p>
        </p:txBody>
      </p:sp>
      <p:sp>
        <p:nvSpPr>
          <p:cNvPr id="37" name="Text 31"/>
          <p:cNvSpPr/>
          <p:nvPr/>
        </p:nvSpPr>
        <p:spPr>
          <a:xfrm>
            <a:off x="6629400" y="25603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 • UML • Classes</a:t>
            </a:r>
            <a:endParaRPr lang="en-US" sz="850" dirty="0"/>
          </a:p>
        </p:txBody>
      </p:sp>
      <p:sp>
        <p:nvSpPr>
          <p:cNvPr id="38" name="Shape 32"/>
          <p:cNvSpPr/>
          <p:nvPr/>
        </p:nvSpPr>
        <p:spPr>
          <a:xfrm>
            <a:off x="1440180" y="3017520"/>
            <a:ext cx="192024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  <a:effectLst>
            <a:outerShdw sx="100000" sy="100000" kx="0" ky="0" algn="bl" rotWithShape="0" blurRad="76200" dist="12700" dir="8100000">
              <a:srgbClr val="0A1F14">
                <a:alpha val="4000"/>
              </a:srgbClr>
            </a:outerShdw>
          </a:effectLst>
        </p:spPr>
      </p:sp>
      <p:sp>
        <p:nvSpPr>
          <p:cNvPr id="39" name="Shape 33"/>
          <p:cNvSpPr/>
          <p:nvPr/>
        </p:nvSpPr>
        <p:spPr>
          <a:xfrm>
            <a:off x="2194560" y="3090672"/>
            <a:ext cx="411480" cy="201168"/>
          </a:xfrm>
          <a:prstGeom prst="roundRect">
            <a:avLst>
              <a:gd name="adj" fmla="val 50000"/>
            </a:avLst>
          </a:prstGeom>
          <a:solidFill>
            <a:srgbClr val="0F3A23"/>
          </a:solidFill>
          <a:ln w="12700">
            <a:solidFill>
              <a:srgbClr val="0F3A23"/>
            </a:solidFill>
            <a:prstDash val="solid"/>
          </a:ln>
        </p:spPr>
      </p:sp>
      <p:sp>
        <p:nvSpPr>
          <p:cNvPr id="40" name="Text 34"/>
          <p:cNvSpPr/>
          <p:nvPr/>
        </p:nvSpPr>
        <p:spPr>
          <a:xfrm>
            <a:off x="2194560" y="3090672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CC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950" dirty="0"/>
          </a:p>
        </p:txBody>
      </p:sp>
      <p:sp>
        <p:nvSpPr>
          <p:cNvPr id="41" name="Shape 35"/>
          <p:cNvSpPr/>
          <p:nvPr/>
        </p:nvSpPr>
        <p:spPr>
          <a:xfrm>
            <a:off x="2226564" y="3346704"/>
            <a:ext cx="347472" cy="347472"/>
          </a:xfrm>
          <a:prstGeom prst="roundRect">
            <a:avLst>
              <a:gd name="adj" fmla="val 15789"/>
            </a:avLst>
          </a:prstGeom>
          <a:solidFill>
            <a:srgbClr val="F0F7F2"/>
          </a:solidFill>
          <a:ln w="12700">
            <a:solidFill>
              <a:srgbClr val="F0F7F2"/>
            </a:solidFill>
            <a:prstDash val="solid"/>
          </a:ln>
        </p:spPr>
      </p:sp>
      <p:pic>
        <p:nvPicPr>
          <p:cNvPr id="4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90572" y="3410712"/>
            <a:ext cx="219456" cy="219456"/>
          </a:xfrm>
          <a:prstGeom prst="rect">
            <a:avLst/>
          </a:prstGeom>
        </p:spPr>
      </p:pic>
      <p:sp>
        <p:nvSpPr>
          <p:cNvPr id="43" name="Text 36"/>
          <p:cNvSpPr/>
          <p:nvPr/>
        </p:nvSpPr>
        <p:spPr>
          <a:xfrm>
            <a:off x="1485900" y="373075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&amp; Technologies</a:t>
            </a:r>
            <a:endParaRPr lang="en-US" sz="1200" dirty="0"/>
          </a:p>
        </p:txBody>
      </p:sp>
      <p:sp>
        <p:nvSpPr>
          <p:cNvPr id="44" name="Text 37"/>
          <p:cNvSpPr/>
          <p:nvPr/>
        </p:nvSpPr>
        <p:spPr>
          <a:xfrm>
            <a:off x="1485900" y="41605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• KYC • Microservices</a:t>
            </a:r>
            <a:endParaRPr lang="en-US" sz="850" dirty="0"/>
          </a:p>
        </p:txBody>
      </p:sp>
      <p:sp>
        <p:nvSpPr>
          <p:cNvPr id="45" name="Shape 38"/>
          <p:cNvSpPr/>
          <p:nvPr/>
        </p:nvSpPr>
        <p:spPr>
          <a:xfrm>
            <a:off x="3497580" y="3017520"/>
            <a:ext cx="192024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  <a:effectLst>
            <a:outerShdw sx="100000" sy="100000" kx="0" ky="0" algn="bl" rotWithShape="0" blurRad="76200" dist="12700" dir="8100000">
              <a:srgbClr val="0A1F14">
                <a:alpha val="4000"/>
              </a:srgbClr>
            </a:outerShdw>
          </a:effectLst>
        </p:spPr>
      </p:sp>
      <p:sp>
        <p:nvSpPr>
          <p:cNvPr id="46" name="Shape 39"/>
          <p:cNvSpPr/>
          <p:nvPr/>
        </p:nvSpPr>
        <p:spPr>
          <a:xfrm>
            <a:off x="4251960" y="3090672"/>
            <a:ext cx="411480" cy="201168"/>
          </a:xfrm>
          <a:prstGeom prst="roundRect">
            <a:avLst>
              <a:gd name="adj" fmla="val 50000"/>
            </a:avLst>
          </a:prstGeom>
          <a:solidFill>
            <a:srgbClr val="0F3A23"/>
          </a:solidFill>
          <a:ln w="12700">
            <a:solidFill>
              <a:srgbClr val="0F3A23"/>
            </a:solidFill>
            <a:prstDash val="solid"/>
          </a:ln>
        </p:spPr>
      </p:sp>
      <p:sp>
        <p:nvSpPr>
          <p:cNvPr id="47" name="Text 40"/>
          <p:cNvSpPr/>
          <p:nvPr/>
        </p:nvSpPr>
        <p:spPr>
          <a:xfrm>
            <a:off x="4251960" y="3090672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CC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950" dirty="0"/>
          </a:p>
        </p:txBody>
      </p:sp>
      <p:sp>
        <p:nvSpPr>
          <p:cNvPr id="48" name="Shape 41"/>
          <p:cNvSpPr/>
          <p:nvPr/>
        </p:nvSpPr>
        <p:spPr>
          <a:xfrm>
            <a:off x="4283964" y="3346704"/>
            <a:ext cx="347472" cy="347472"/>
          </a:xfrm>
          <a:prstGeom prst="roundRect">
            <a:avLst>
              <a:gd name="adj" fmla="val 15789"/>
            </a:avLst>
          </a:prstGeom>
          <a:solidFill>
            <a:srgbClr val="F0F7F2"/>
          </a:solidFill>
          <a:ln w="12700">
            <a:solidFill>
              <a:srgbClr val="F0F7F2"/>
            </a:solidFill>
            <a:prstDash val="solid"/>
          </a:ln>
        </p:spPr>
      </p:sp>
      <p:pic>
        <p:nvPicPr>
          <p:cNvPr id="4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47972" y="3410712"/>
            <a:ext cx="219456" cy="219456"/>
          </a:xfrm>
          <a:prstGeom prst="rect">
            <a:avLst/>
          </a:prstGeom>
        </p:spPr>
      </p:pic>
      <p:sp>
        <p:nvSpPr>
          <p:cNvPr id="50" name="Text 42"/>
          <p:cNvSpPr/>
          <p:nvPr/>
        </p:nvSpPr>
        <p:spPr>
          <a:xfrm>
            <a:off x="3543300" y="373075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Réalisation &amp; Démonstration</a:t>
            </a:r>
            <a:endParaRPr lang="en-US" sz="1200" dirty="0"/>
          </a:p>
        </p:txBody>
      </p:sp>
      <p:sp>
        <p:nvSpPr>
          <p:cNvPr id="51" name="Text 43"/>
          <p:cNvSpPr/>
          <p:nvPr/>
        </p:nvSpPr>
        <p:spPr>
          <a:xfrm>
            <a:off x="3543300" y="41605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 • Flux passager</a:t>
            </a:r>
            <a:endParaRPr lang="en-US" sz="850" dirty="0"/>
          </a:p>
        </p:txBody>
      </p:sp>
      <p:sp>
        <p:nvSpPr>
          <p:cNvPr id="52" name="Shape 44"/>
          <p:cNvSpPr/>
          <p:nvPr/>
        </p:nvSpPr>
        <p:spPr>
          <a:xfrm>
            <a:off x="5554980" y="3017520"/>
            <a:ext cx="192024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  <a:effectLst>
            <a:outerShdw sx="100000" sy="100000" kx="0" ky="0" algn="bl" rotWithShape="0" blurRad="76200" dist="12700" dir="8100000">
              <a:srgbClr val="0A1F14">
                <a:alpha val="4000"/>
              </a:srgbClr>
            </a:outerShdw>
          </a:effectLst>
        </p:spPr>
      </p:sp>
      <p:sp>
        <p:nvSpPr>
          <p:cNvPr id="53" name="Shape 45"/>
          <p:cNvSpPr/>
          <p:nvPr/>
        </p:nvSpPr>
        <p:spPr>
          <a:xfrm>
            <a:off x="6309360" y="3090672"/>
            <a:ext cx="411480" cy="201168"/>
          </a:xfrm>
          <a:prstGeom prst="roundRect">
            <a:avLst>
              <a:gd name="adj" fmla="val 50000"/>
            </a:avLst>
          </a:prstGeom>
          <a:solidFill>
            <a:srgbClr val="0F3A23"/>
          </a:solidFill>
          <a:ln w="12700">
            <a:solidFill>
              <a:srgbClr val="0F3A23"/>
            </a:solidFill>
            <a:prstDash val="solid"/>
          </a:ln>
        </p:spPr>
      </p:sp>
      <p:sp>
        <p:nvSpPr>
          <p:cNvPr id="54" name="Text 46"/>
          <p:cNvSpPr/>
          <p:nvPr/>
        </p:nvSpPr>
        <p:spPr>
          <a:xfrm>
            <a:off x="6309360" y="3090672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CC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950" dirty="0"/>
          </a:p>
        </p:txBody>
      </p:sp>
      <p:sp>
        <p:nvSpPr>
          <p:cNvPr id="55" name="Shape 47"/>
          <p:cNvSpPr/>
          <p:nvPr/>
        </p:nvSpPr>
        <p:spPr>
          <a:xfrm>
            <a:off x="6341364" y="3346704"/>
            <a:ext cx="347472" cy="347472"/>
          </a:xfrm>
          <a:prstGeom prst="roundRect">
            <a:avLst>
              <a:gd name="adj" fmla="val 15789"/>
            </a:avLst>
          </a:prstGeom>
          <a:solidFill>
            <a:srgbClr val="F0F7F2"/>
          </a:solidFill>
          <a:ln w="12700">
            <a:solidFill>
              <a:srgbClr val="F0F7F2"/>
            </a:solidFill>
            <a:prstDash val="solid"/>
          </a:ln>
        </p:spPr>
      </p:sp>
      <p:pic>
        <p:nvPicPr>
          <p:cNvPr id="5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5372" y="3410712"/>
            <a:ext cx="219456" cy="219456"/>
          </a:xfrm>
          <a:prstGeom prst="rect">
            <a:avLst/>
          </a:prstGeom>
        </p:spPr>
      </p:pic>
      <p:sp>
        <p:nvSpPr>
          <p:cNvPr id="57" name="Text 48"/>
          <p:cNvSpPr/>
          <p:nvPr/>
        </p:nvSpPr>
        <p:spPr>
          <a:xfrm>
            <a:off x="5600700" y="373075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Résultats &amp; Conclusion</a:t>
            </a:r>
            <a:endParaRPr lang="en-US" sz="1200" dirty="0"/>
          </a:p>
        </p:txBody>
      </p:sp>
      <p:sp>
        <p:nvSpPr>
          <p:cNvPr id="58" name="Text 49"/>
          <p:cNvSpPr/>
          <p:nvPr/>
        </p:nvSpPr>
        <p:spPr>
          <a:xfrm>
            <a:off x="5600700" y="41605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Jest • SUS 71.6 • Perspectives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3A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0" y="365760"/>
            <a:ext cx="4114800" cy="411480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algn="l" indent="0" marL="0">
              <a:buNone/>
            </a:pPr>
            <a:r>
              <a:rPr lang="en-US" sz="22000" b="1" dirty="0">
                <a:solidFill>
                  <a:srgbClr val="163F2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220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166E3A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411480"/>
            <a:ext cx="292608" cy="32004"/>
          </a:xfrm>
          <a:prstGeom prst="rect">
            <a:avLst/>
          </a:prstGeom>
          <a:solidFill>
            <a:srgbClr val="4CC080"/>
          </a:solidFill>
          <a:ln w="12700">
            <a:solidFill>
              <a:srgbClr val="4CC0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347472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CC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INTRODUCTION &amp; PROBLÉMATIQUE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955280" y="347472"/>
            <a:ext cx="713232" cy="274320"/>
          </a:xfrm>
          <a:prstGeom prst="roundRect">
            <a:avLst>
              <a:gd name="adj" fmla="val 50000"/>
            </a:avLst>
          </a:prstGeom>
          <a:solidFill>
            <a:srgbClr val="0A1F14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0" y="347472"/>
            <a:ext cx="7132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CC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03/31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645920" y="1463040"/>
            <a:ext cx="1828800" cy="1828800"/>
          </a:xfrm>
          <a:prstGeom prst="ellipse">
            <a:avLst/>
          </a:prstGeom>
          <a:solidFill>
            <a:srgbClr val="4CC080"/>
          </a:solidFill>
          <a:ln w="12700">
            <a:solidFill>
              <a:srgbClr val="4CC080"/>
            </a:solidFill>
            <a:prstDash val="solid"/>
          </a:ln>
          <a:effectLst>
            <a:outerShdw sx="100000" sy="100000" kx="0" ky="0" algn="bl" rotWithShape="0" blurRad="152400" dist="38100" dir="10800000">
              <a:srgbClr val="000000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645920" y="146304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0A1F1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7200" dirty="0"/>
          </a:p>
        </p:txBody>
      </p:sp>
      <p:sp>
        <p:nvSpPr>
          <p:cNvPr id="10" name="Text 8"/>
          <p:cNvSpPr/>
          <p:nvPr/>
        </p:nvSpPr>
        <p:spPr>
          <a:xfrm>
            <a:off x="3840480" y="1645920"/>
            <a:ext cx="4846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&amp; Problématique</a:t>
            </a:r>
            <a:endParaRPr lang="en-US" sz="3200" dirty="0"/>
          </a:p>
        </p:txBody>
      </p:sp>
      <p:sp>
        <p:nvSpPr>
          <p:cNvPr id="11" name="Shape 9"/>
          <p:cNvSpPr/>
          <p:nvPr/>
        </p:nvSpPr>
        <p:spPr>
          <a:xfrm>
            <a:off x="3840480" y="2743200"/>
            <a:ext cx="2743200" cy="36576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0" y="297180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Où ? Quand ? Dans quel contexte ?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0" y="365760"/>
            <a:ext cx="4114800" cy="411480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algn="l" indent="0" marL="0">
              <a:buNone/>
            </a:pPr>
            <a:r>
              <a:rPr lang="en-US" sz="22000" b="1" dirty="0">
                <a:solidFill>
                  <a:srgbClr val="ECEA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220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166E3A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411480"/>
            <a:ext cx="292608" cy="32004"/>
          </a:xfrm>
          <a:prstGeom prst="rect">
            <a:avLst/>
          </a:prstGeom>
          <a:solidFill>
            <a:srgbClr val="4CC080"/>
          </a:solidFill>
          <a:ln w="12700">
            <a:solidFill>
              <a:srgbClr val="4CC0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347472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66E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INTRODUCTION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955280" y="347472"/>
            <a:ext cx="713232" cy="274320"/>
          </a:xfrm>
          <a:prstGeom prst="roundRect">
            <a:avLst>
              <a:gd name="adj" fmla="val 50000"/>
            </a:avLst>
          </a:prstGeom>
          <a:solidFill>
            <a:srgbClr val="0F3A23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0" y="347472"/>
            <a:ext cx="7132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CC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04/31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6858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Mobilité Inter-Wilayas en Algérie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457200" y="12801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réseau routier de 112 696 km reliant 69 wilayas,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i="1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aucune plateforme numérique dédiée au covoiturage longue distance.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057400"/>
            <a:ext cx="256032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  <a:effectLst>
            <a:outerShdw sx="100000" sy="100000" kx="0" ky="0" algn="bl" rotWithShape="0" blurRad="101600" dist="25400" dir="8100000">
              <a:srgbClr val="0A1F14">
                <a:alpha val="5000"/>
              </a:srgbClr>
            </a:outerShdw>
          </a:effectLst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1640" y="2194560"/>
            <a:ext cx="457200" cy="45720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685800" y="269748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F3A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6.3M</a:t>
            </a:r>
            <a:endParaRPr lang="en-US" sz="3200" dirty="0"/>
          </a:p>
        </p:txBody>
      </p:sp>
      <p:sp>
        <p:nvSpPr>
          <p:cNvPr id="13" name="Text 10"/>
          <p:cNvSpPr/>
          <p:nvPr/>
        </p:nvSpPr>
        <p:spPr>
          <a:xfrm>
            <a:off x="685800" y="3127248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Étudiants se déplaçant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wilayas chaque année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3520440" y="2057400"/>
            <a:ext cx="256032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  <a:effectLst>
            <a:outerShdw sx="100000" sy="100000" kx="0" ky="0" algn="bl" rotWithShape="0" blurRad="101600" dist="25400" dir="8100000">
              <a:srgbClr val="0A1F14">
                <a:alpha val="5000"/>
              </a:srgbClr>
            </a:outerShdw>
          </a:effectLst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0" y="2194560"/>
            <a:ext cx="457200" cy="45720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3520440" y="269748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F3A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3200" dirty="0"/>
          </a:p>
        </p:txBody>
      </p:sp>
      <p:sp>
        <p:nvSpPr>
          <p:cNvPr id="17" name="Text 13"/>
          <p:cNvSpPr/>
          <p:nvPr/>
        </p:nvSpPr>
        <p:spPr>
          <a:xfrm>
            <a:off x="3520440" y="3127248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Déplacements inter-wilayas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transports informels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6355080" y="2057400"/>
            <a:ext cx="256032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  <a:effectLst>
            <a:outerShdw sx="100000" sy="100000" kx="0" ky="0" algn="bl" rotWithShape="0" blurRad="101600" dist="25400" dir="8100000">
              <a:srgbClr val="0A1F14">
                <a:alpha val="5000"/>
              </a:srgbClr>
            </a:outerShdw>
          </a:effectLst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60920" y="2194560"/>
            <a:ext cx="457200" cy="45720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355080" y="269748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F3A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200" dirty="0"/>
          </a:p>
        </p:txBody>
      </p:sp>
      <p:sp>
        <p:nvSpPr>
          <p:cNvPr id="21" name="Text 16"/>
          <p:cNvSpPr/>
          <p:nvPr/>
        </p:nvSpPr>
        <p:spPr>
          <a:xfrm>
            <a:off x="6355080" y="3127248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Plateformes KYC dédiées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aux trajets longue distance</a:t>
            </a:r>
            <a:endParaRPr lang="en-US" sz="950" dirty="0"/>
          </a:p>
        </p:txBody>
      </p:sp>
      <p:sp>
        <p:nvSpPr>
          <p:cNvPr id="22" name="Shape 17"/>
          <p:cNvSpPr/>
          <p:nvPr/>
        </p:nvSpPr>
        <p:spPr>
          <a:xfrm>
            <a:off x="685800" y="3794760"/>
            <a:ext cx="7772400" cy="548640"/>
          </a:xfrm>
          <a:prstGeom prst="roundRect">
            <a:avLst>
              <a:gd name="adj" fmla="val 13333"/>
            </a:avLst>
          </a:prstGeom>
          <a:solidFill>
            <a:srgbClr val="0F3A23"/>
          </a:solidFill>
          <a:ln w="6350">
            <a:solidFill>
              <a:srgbClr val="166E3A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685800" y="379476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Risques : Aucune vérification d'identité • Paiement en espèces uniquement • Groupes Facebook non sécurisés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0" y="365760"/>
            <a:ext cx="4114800" cy="411480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algn="l" indent="0" marL="0">
              <a:buNone/>
            </a:pPr>
            <a:r>
              <a:rPr lang="en-US" sz="22000" b="1" dirty="0">
                <a:solidFill>
                  <a:srgbClr val="ECEA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220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166E3A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411480"/>
            <a:ext cx="292608" cy="32004"/>
          </a:xfrm>
          <a:prstGeom prst="rect">
            <a:avLst/>
          </a:prstGeom>
          <a:solidFill>
            <a:srgbClr val="4CC080"/>
          </a:solidFill>
          <a:ln w="12700">
            <a:solidFill>
              <a:srgbClr val="4CC0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347472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66E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PROBLÉMATIQUE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955280" y="347472"/>
            <a:ext cx="713232" cy="274320"/>
          </a:xfrm>
          <a:prstGeom prst="roundRect">
            <a:avLst>
              <a:gd name="adj" fmla="val 50000"/>
            </a:avLst>
          </a:prstGeom>
          <a:solidFill>
            <a:srgbClr val="0F3A23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0" y="347472"/>
            <a:ext cx="7132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CC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05/31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6858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Problème de Confiance &amp; Sécurité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685800" y="1371600"/>
            <a:ext cx="7772400" cy="1097280"/>
          </a:xfrm>
          <a:prstGeom prst="roundRect">
            <a:avLst>
              <a:gd name="adj" fmla="val 8333"/>
            </a:avLst>
          </a:prstGeom>
          <a:solidFill>
            <a:srgbClr val="0F3A23"/>
          </a:solidFill>
          <a:ln w="12700">
            <a:solidFill>
              <a:srgbClr val="4CC0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141732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4CC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QUESTION CENTRALE DE RECHERCHE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914400" y="1691640"/>
            <a:ext cx="7315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concevoir une plateforme de covoiturage inter-wilayas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intégrant un pipeline biométrique KYC pour garantir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confiance et la sécurité des utilisateurs ?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02920" y="2743200"/>
            <a:ext cx="196596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  <a:effectLst>
            <a:outerShdw sx="100000" sy="100000" kx="0" ky="0" algn="bl" rotWithShape="0" blurRad="101600" dist="25400" dir="8100000">
              <a:srgbClr val="0A1F14">
                <a:alpha val="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12648" y="3255264"/>
            <a:ext cx="347472" cy="347472"/>
          </a:xfrm>
          <a:prstGeom prst="roundRect">
            <a:avLst>
              <a:gd name="adj" fmla="val 15789"/>
            </a:avLst>
          </a:prstGeom>
          <a:solidFill>
            <a:srgbClr val="F5F1E8"/>
          </a:solidFill>
          <a:ln w="12700">
            <a:solidFill>
              <a:srgbClr val="F5F1E8"/>
            </a:solidFill>
            <a:prstDash val="solid"/>
          </a:ln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3300984"/>
            <a:ext cx="256032" cy="256032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1051560" y="2834640"/>
            <a:ext cx="13075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Identité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1051560" y="3044952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Vérification de l'identité réelle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conducteurs et passagers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2606040" y="2743200"/>
            <a:ext cx="196596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  <a:effectLst>
            <a:outerShdw sx="100000" sy="100000" kx="0" ky="0" algn="bl" rotWithShape="0" blurRad="101600" dist="25400" dir="8100000">
              <a:srgbClr val="0A1F14">
                <a:alpha val="5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2715768" y="3255264"/>
            <a:ext cx="347472" cy="347472"/>
          </a:xfrm>
          <a:prstGeom prst="roundRect">
            <a:avLst>
              <a:gd name="adj" fmla="val 15789"/>
            </a:avLst>
          </a:prstGeom>
          <a:solidFill>
            <a:srgbClr val="F5F1E8"/>
          </a:solidFill>
          <a:ln w="12700">
            <a:solidFill>
              <a:srgbClr val="F5F1E8"/>
            </a:solidFill>
            <a:prstDash val="solid"/>
          </a:ln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1488" y="3300984"/>
            <a:ext cx="256032" cy="256032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3154680" y="2834640"/>
            <a:ext cx="13075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Paiement</a:t>
            </a:r>
            <a:endParaRPr lang="en-US" sz="1150" dirty="0"/>
          </a:p>
        </p:txBody>
      </p:sp>
      <p:sp>
        <p:nvSpPr>
          <p:cNvPr id="21" name="Text 17"/>
          <p:cNvSpPr/>
          <p:nvPr/>
        </p:nvSpPr>
        <p:spPr>
          <a:xfrm>
            <a:off x="3154680" y="3044952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Intégration du paiement local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(SATIM, Edahabia, CIB)</a:t>
            </a:r>
            <a:endParaRPr lang="en-US" sz="900" dirty="0"/>
          </a:p>
        </p:txBody>
      </p:sp>
      <p:sp>
        <p:nvSpPr>
          <p:cNvPr id="22" name="Shape 18"/>
          <p:cNvSpPr/>
          <p:nvPr/>
        </p:nvSpPr>
        <p:spPr>
          <a:xfrm>
            <a:off x="4709160" y="2743200"/>
            <a:ext cx="196596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  <a:effectLst>
            <a:outerShdw sx="100000" sy="100000" kx="0" ky="0" algn="bl" rotWithShape="0" blurRad="101600" dist="25400" dir="8100000">
              <a:srgbClr val="0A1F14">
                <a:alpha val="5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4818888" y="3255264"/>
            <a:ext cx="347472" cy="347472"/>
          </a:xfrm>
          <a:prstGeom prst="roundRect">
            <a:avLst>
              <a:gd name="adj" fmla="val 15789"/>
            </a:avLst>
          </a:prstGeom>
          <a:solidFill>
            <a:srgbClr val="F5F1E8"/>
          </a:solidFill>
          <a:ln w="12700">
            <a:solidFill>
              <a:srgbClr val="F5F1E8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4608" y="3300984"/>
            <a:ext cx="256032" cy="256032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5257800" y="2834640"/>
            <a:ext cx="13075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Résilience</a:t>
            </a:r>
            <a:endParaRPr lang="en-US" sz="1150" dirty="0"/>
          </a:p>
        </p:txBody>
      </p:sp>
      <p:sp>
        <p:nvSpPr>
          <p:cNvPr id="26" name="Text 21"/>
          <p:cNvSpPr/>
          <p:nvPr/>
        </p:nvSpPr>
        <p:spPr>
          <a:xfrm>
            <a:off x="5257800" y="3044952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API tolérante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aux pannes (99%+ uptime)</a:t>
            </a:r>
            <a:endParaRPr lang="en-US" sz="900" dirty="0"/>
          </a:p>
        </p:txBody>
      </p:sp>
      <p:sp>
        <p:nvSpPr>
          <p:cNvPr id="27" name="Shape 22"/>
          <p:cNvSpPr/>
          <p:nvPr/>
        </p:nvSpPr>
        <p:spPr>
          <a:xfrm>
            <a:off x="6812280" y="2743200"/>
            <a:ext cx="196596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  <a:effectLst>
            <a:outerShdw sx="100000" sy="100000" kx="0" ky="0" algn="bl" rotWithShape="0" blurRad="101600" dist="25400" dir="8100000">
              <a:srgbClr val="0A1F14">
                <a:alpha val="5000"/>
              </a:srgbClr>
            </a:outerShdw>
          </a:effectLst>
        </p:spPr>
      </p:sp>
      <p:sp>
        <p:nvSpPr>
          <p:cNvPr id="28" name="Shape 23"/>
          <p:cNvSpPr/>
          <p:nvPr/>
        </p:nvSpPr>
        <p:spPr>
          <a:xfrm>
            <a:off x="6922008" y="3255264"/>
            <a:ext cx="347472" cy="347472"/>
          </a:xfrm>
          <a:prstGeom prst="roundRect">
            <a:avLst>
              <a:gd name="adj" fmla="val 15789"/>
            </a:avLst>
          </a:prstGeom>
          <a:solidFill>
            <a:srgbClr val="F5F1E8"/>
          </a:solidFill>
          <a:ln w="12700">
            <a:solidFill>
              <a:srgbClr val="F5F1E8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67728" y="3300984"/>
            <a:ext cx="256032" cy="256032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7360920" y="2834640"/>
            <a:ext cx="13075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Couverture</a:t>
            </a:r>
            <a:endParaRPr lang="en-US" sz="1150" dirty="0"/>
          </a:p>
        </p:txBody>
      </p:sp>
      <p:sp>
        <p:nvSpPr>
          <p:cNvPr id="31" name="Text 25"/>
          <p:cNvSpPr/>
          <p:nvPr/>
        </p:nvSpPr>
        <p:spPr>
          <a:xfrm>
            <a:off x="7360920" y="3044952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Desservir les 69 wilayas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avec une UX fluide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0" y="365760"/>
            <a:ext cx="4114800" cy="411480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algn="l" indent="0" marL="0">
              <a:buNone/>
            </a:pPr>
            <a:r>
              <a:rPr lang="en-US" sz="22000" b="1" dirty="0">
                <a:solidFill>
                  <a:srgbClr val="ECEA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06</a:t>
            </a:r>
            <a:endParaRPr lang="en-US" sz="220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166E3A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411480"/>
            <a:ext cx="292608" cy="32004"/>
          </a:xfrm>
          <a:prstGeom prst="rect">
            <a:avLst/>
          </a:prstGeom>
          <a:solidFill>
            <a:srgbClr val="4CC080"/>
          </a:solidFill>
          <a:ln w="12700">
            <a:solidFill>
              <a:srgbClr val="4CC0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347472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66E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HYPOTHÈSES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955280" y="347472"/>
            <a:ext cx="713232" cy="274320"/>
          </a:xfrm>
          <a:prstGeom prst="roundRect">
            <a:avLst>
              <a:gd name="adj" fmla="val 50000"/>
            </a:avLst>
          </a:prstGeom>
          <a:solidFill>
            <a:srgbClr val="0F3A23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0" y="347472"/>
            <a:ext cx="7132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CC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06/31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6858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Hypothèses de Travail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685800" y="1417320"/>
            <a:ext cx="777240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  <a:effectLst>
            <a:outerShdw sx="100000" sy="100000" kx="0" ky="0" algn="bl" rotWithShape="0" blurRad="76200" dist="12700" dir="8100000">
              <a:srgbClr val="0A1F14">
                <a:alpha val="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1554480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0F3A23"/>
          </a:solidFill>
          <a:ln w="12700">
            <a:solidFill>
              <a:srgbClr val="0F3A2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1554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CC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H1</a:t>
            </a:r>
            <a:endParaRPr lang="en-US" sz="18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8760" y="1600200"/>
            <a:ext cx="411480" cy="41148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2057400" y="1527048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KYC Biométrique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4846320" y="1554480"/>
            <a:ext cx="822960" cy="201168"/>
          </a:xfrm>
          <a:prstGeom prst="roundRect">
            <a:avLst>
              <a:gd name="adj" fmla="val 50000"/>
            </a:avLst>
          </a:prstGeom>
          <a:solidFill>
            <a:srgbClr val="166E3A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846320" y="1554480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INNOVATION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2057400" y="1828800"/>
            <a:ext cx="6126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pipeline d'IA combinant OCR, ArcFace et détection de vivacité peut vérifier l'identité des utilisateurs avec un seuil de confiance ≥ 0.65 (conducteurs) et ≥ 0.60 (passagers).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85800" y="2560320"/>
            <a:ext cx="777240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  <a:effectLst>
            <a:outerShdw sx="100000" sy="100000" kx="0" ky="0" algn="bl" rotWithShape="0" blurRad="76200" dist="12700" dir="8100000">
              <a:srgbClr val="0A1F14">
                <a:alpha val="4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68680" y="2697480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0F3A23"/>
          </a:solidFill>
          <a:ln w="12700">
            <a:solidFill>
              <a:srgbClr val="0F3A2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68680" y="2697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CC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H2</a:t>
            </a:r>
            <a:endParaRPr lang="en-US" sz="1800" dirty="0"/>
          </a:p>
        </p:txBody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8760" y="2743200"/>
            <a:ext cx="411480" cy="411480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2057400" y="2670048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Usabilité Mobile</a:t>
            </a:r>
            <a:endParaRPr lang="en-US" sz="1400" dirty="0"/>
          </a:p>
        </p:txBody>
      </p:sp>
      <p:sp>
        <p:nvSpPr>
          <p:cNvPr id="22" name="Shape 18"/>
          <p:cNvSpPr/>
          <p:nvPr/>
        </p:nvSpPr>
        <p:spPr>
          <a:xfrm>
            <a:off x="4846320" y="2697480"/>
            <a:ext cx="822960" cy="201168"/>
          </a:xfrm>
          <a:prstGeom prst="roundRect">
            <a:avLst>
              <a:gd name="adj" fmla="val 50000"/>
            </a:avLst>
          </a:prstGeom>
          <a:solidFill>
            <a:srgbClr val="2196F3"/>
          </a:solidFill>
          <a:ln w="12700">
            <a:solidFill>
              <a:srgbClr val="2196F3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4846320" y="2697480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PROTOTYPAGE</a:t>
            </a:r>
            <a:endParaRPr lang="en-US" sz="800" dirty="0"/>
          </a:p>
        </p:txBody>
      </p:sp>
      <p:sp>
        <p:nvSpPr>
          <p:cNvPr id="24" name="Text 20"/>
          <p:cNvSpPr/>
          <p:nvPr/>
        </p:nvSpPr>
        <p:spPr>
          <a:xfrm>
            <a:off x="2057400" y="2971800"/>
            <a:ext cx="6126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L'application mobile obtient un score SUS ≥ 68/100, validant une expérience utilisateur de qualité « Good » selon les standards ISO.</a:t>
            </a:r>
            <a:endParaRPr lang="en-US" sz="1000" dirty="0"/>
          </a:p>
        </p:txBody>
      </p:sp>
      <p:sp>
        <p:nvSpPr>
          <p:cNvPr id="25" name="Shape 21"/>
          <p:cNvSpPr/>
          <p:nvPr/>
        </p:nvSpPr>
        <p:spPr>
          <a:xfrm>
            <a:off x="685800" y="3703320"/>
            <a:ext cx="777240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  <a:effectLst>
            <a:outerShdw sx="100000" sy="100000" kx="0" ky="0" algn="bl" rotWithShape="0" blurRad="76200" dist="12700" dir="8100000">
              <a:srgbClr val="0A1F14">
                <a:alpha val="4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868680" y="3840480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0F3A23"/>
          </a:solidFill>
          <a:ln w="12700">
            <a:solidFill>
              <a:srgbClr val="0F3A23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868680" y="3840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CC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H3</a:t>
            </a:r>
            <a:endParaRPr lang="en-US" sz="1800" dirty="0"/>
          </a:p>
        </p:txBody>
      </p:sp>
      <p:pic>
        <p:nvPicPr>
          <p:cNvPr id="2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8760" y="3886200"/>
            <a:ext cx="411480" cy="411480"/>
          </a:xfrm>
          <a:prstGeom prst="rect">
            <a:avLst/>
          </a:prstGeom>
        </p:spPr>
      </p:pic>
      <p:sp>
        <p:nvSpPr>
          <p:cNvPr id="29" name="Text 24"/>
          <p:cNvSpPr/>
          <p:nvPr/>
        </p:nvSpPr>
        <p:spPr>
          <a:xfrm>
            <a:off x="2057400" y="3813048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Résilience API</a:t>
            </a:r>
            <a:endParaRPr lang="en-US" sz="1400" dirty="0"/>
          </a:p>
        </p:txBody>
      </p:sp>
      <p:sp>
        <p:nvSpPr>
          <p:cNvPr id="30" name="Shape 25"/>
          <p:cNvSpPr/>
          <p:nvPr/>
        </p:nvSpPr>
        <p:spPr>
          <a:xfrm>
            <a:off x="4846320" y="3840480"/>
            <a:ext cx="822960" cy="201168"/>
          </a:xfrm>
          <a:prstGeom prst="roundRect">
            <a:avLst>
              <a:gd name="adj" fmla="val 50000"/>
            </a:avLst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4846320" y="3840480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SOLVABILITÉ</a:t>
            </a:r>
            <a:endParaRPr lang="en-US" sz="800" dirty="0"/>
          </a:p>
        </p:txBody>
      </p:sp>
      <p:sp>
        <p:nvSpPr>
          <p:cNvPr id="32" name="Text 27"/>
          <p:cNvSpPr/>
          <p:nvPr/>
        </p:nvSpPr>
        <p:spPr>
          <a:xfrm>
            <a:off x="2057400" y="4114800"/>
            <a:ext cx="6126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L'architecture microservices avec circuit breaker, retry patterns et health checks maintient un taux de disponibilité ≥ 99%.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3A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0" y="365760"/>
            <a:ext cx="4114800" cy="411480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algn="l" indent="0" marL="0">
              <a:buNone/>
            </a:pPr>
            <a:r>
              <a:rPr lang="en-US" sz="22000" b="1" dirty="0">
                <a:solidFill>
                  <a:srgbClr val="163F2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07</a:t>
            </a:r>
            <a:endParaRPr lang="en-US" sz="220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166E3A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411480"/>
            <a:ext cx="292608" cy="32004"/>
          </a:xfrm>
          <a:prstGeom prst="rect">
            <a:avLst/>
          </a:prstGeom>
          <a:solidFill>
            <a:srgbClr val="4CC080"/>
          </a:solidFill>
          <a:ln w="12700">
            <a:solidFill>
              <a:srgbClr val="4CC0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347472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CC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CONTEXTE &amp; CADRE LÉGAL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955280" y="347472"/>
            <a:ext cx="713232" cy="274320"/>
          </a:xfrm>
          <a:prstGeom prst="roundRect">
            <a:avLst>
              <a:gd name="adj" fmla="val 50000"/>
            </a:avLst>
          </a:prstGeom>
          <a:solidFill>
            <a:srgbClr val="0A1F14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0" y="347472"/>
            <a:ext cx="7132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CC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07/31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645920" y="1463040"/>
            <a:ext cx="1828800" cy="1828800"/>
          </a:xfrm>
          <a:prstGeom prst="ellipse">
            <a:avLst/>
          </a:prstGeom>
          <a:solidFill>
            <a:srgbClr val="4CC080"/>
          </a:solidFill>
          <a:ln w="12700">
            <a:solidFill>
              <a:srgbClr val="4CC080"/>
            </a:solidFill>
            <a:prstDash val="solid"/>
          </a:ln>
          <a:effectLst>
            <a:outerShdw sx="100000" sy="100000" kx="0" ky="0" algn="bl" rotWithShape="0" blurRad="152400" dist="38100" dir="10800000">
              <a:srgbClr val="000000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645920" y="146304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0A1F1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7200" dirty="0"/>
          </a:p>
        </p:txBody>
      </p:sp>
      <p:sp>
        <p:nvSpPr>
          <p:cNvPr id="10" name="Text 8"/>
          <p:cNvSpPr/>
          <p:nvPr/>
        </p:nvSpPr>
        <p:spPr>
          <a:xfrm>
            <a:off x="3840480" y="1645920"/>
            <a:ext cx="4846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 &amp; Cadre Légal</a:t>
            </a:r>
            <a:endParaRPr lang="en-US" sz="3200" dirty="0"/>
          </a:p>
        </p:txBody>
      </p:sp>
      <p:sp>
        <p:nvSpPr>
          <p:cNvPr id="11" name="Shape 9"/>
          <p:cNvSpPr/>
          <p:nvPr/>
        </p:nvSpPr>
        <p:spPr>
          <a:xfrm>
            <a:off x="3840480" y="2743200"/>
            <a:ext cx="2743200" cy="36576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0" y="297180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 marché ? Quelle réglementation ?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0" y="365760"/>
            <a:ext cx="4114800" cy="411480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algn="l" indent="0" marL="0">
              <a:buNone/>
            </a:pPr>
            <a:r>
              <a:rPr lang="en-US" sz="22000" b="1" dirty="0">
                <a:solidFill>
                  <a:srgbClr val="ECEA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08</a:t>
            </a:r>
            <a:endParaRPr lang="en-US" sz="220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166E3A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411480"/>
            <a:ext cx="292608" cy="32004"/>
          </a:xfrm>
          <a:prstGeom prst="rect">
            <a:avLst/>
          </a:prstGeom>
          <a:solidFill>
            <a:srgbClr val="4CC080"/>
          </a:solidFill>
          <a:ln w="12700">
            <a:solidFill>
              <a:srgbClr val="4CC0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347472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66E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CONTEXTE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955280" y="347472"/>
            <a:ext cx="713232" cy="274320"/>
          </a:xfrm>
          <a:prstGeom prst="roundRect">
            <a:avLst>
              <a:gd name="adj" fmla="val 50000"/>
            </a:avLst>
          </a:prstGeom>
          <a:solidFill>
            <a:srgbClr val="0F3A23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0" y="347472"/>
            <a:ext cx="7132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CC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08/31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6858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Concurrentielle : Les Gaps du Marché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548640" y="1371600"/>
            <a:ext cx="1645920" cy="457200"/>
          </a:xfrm>
          <a:prstGeom prst="rect">
            <a:avLst/>
          </a:prstGeom>
          <a:solidFill>
            <a:srgbClr val="0F3A23"/>
          </a:solidFill>
          <a:ln w="6350">
            <a:solidFill>
              <a:srgbClr val="166E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137160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Critère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194560" y="1371600"/>
            <a:ext cx="1188720" cy="457200"/>
          </a:xfrm>
          <a:prstGeom prst="rect">
            <a:avLst/>
          </a:prstGeom>
          <a:solidFill>
            <a:srgbClr val="0F3A23"/>
          </a:solidFill>
          <a:ln w="6350">
            <a:solidFill>
              <a:srgbClr val="166E3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194560" y="1371600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BlaBlaCar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383280" y="1371600"/>
            <a:ext cx="1005840" cy="457200"/>
          </a:xfrm>
          <a:prstGeom prst="rect">
            <a:avLst/>
          </a:prstGeom>
          <a:solidFill>
            <a:srgbClr val="0F3A23"/>
          </a:solidFill>
          <a:ln w="6350">
            <a:solidFill>
              <a:srgbClr val="166E3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83280" y="1371600"/>
            <a:ext cx="100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Yassir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389120" y="1371600"/>
            <a:ext cx="1005840" cy="457200"/>
          </a:xfrm>
          <a:prstGeom prst="rect">
            <a:avLst/>
          </a:prstGeom>
          <a:solidFill>
            <a:srgbClr val="0F3A23"/>
          </a:solidFill>
          <a:ln w="6350">
            <a:solidFill>
              <a:srgbClr val="166E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89120" y="1371600"/>
            <a:ext cx="100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Nroho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394960" y="1371600"/>
            <a:ext cx="1005840" cy="457200"/>
          </a:xfrm>
          <a:prstGeom prst="rect">
            <a:avLst/>
          </a:prstGeom>
          <a:solidFill>
            <a:srgbClr val="0F3A23"/>
          </a:solidFill>
          <a:ln w="6350">
            <a:solidFill>
              <a:srgbClr val="166E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94960" y="1371600"/>
            <a:ext cx="100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inDrive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400800" y="1371600"/>
            <a:ext cx="1920240" cy="457200"/>
          </a:xfrm>
          <a:prstGeom prst="rect">
            <a:avLst/>
          </a:prstGeom>
          <a:solidFill>
            <a:srgbClr val="0F3A23"/>
          </a:solidFill>
          <a:ln w="6350">
            <a:solidFill>
              <a:srgbClr val="166E3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0" y="137160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RohWinBghit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48640" y="1828800"/>
            <a:ext cx="16459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182880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KYC Biométrique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2194560" y="1828800"/>
            <a:ext cx="11887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194560" y="1828800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44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383280" y="1828800"/>
            <a:ext cx="100584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383280" y="1828800"/>
            <a:ext cx="100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44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389120" y="1828800"/>
            <a:ext cx="100584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89120" y="1828800"/>
            <a:ext cx="100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44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394960" y="1828800"/>
            <a:ext cx="100584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394960" y="1828800"/>
            <a:ext cx="100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44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400800" y="1828800"/>
            <a:ext cx="1920240" cy="457200"/>
          </a:xfrm>
          <a:prstGeom prst="rect">
            <a:avLst/>
          </a:prstGeom>
          <a:solidFill>
            <a:srgbClr val="E8F5E9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0" y="182880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66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ArcFace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548640" y="2286000"/>
            <a:ext cx="16459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48640" y="228600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Paiement Local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2194560" y="2286000"/>
            <a:ext cx="11887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194560" y="2286000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44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(CB EU)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3383280" y="2286000"/>
            <a:ext cx="100584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383280" y="2286000"/>
            <a:ext cx="100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Partiel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4389120" y="2286000"/>
            <a:ext cx="100584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389120" y="2286000"/>
            <a:ext cx="100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44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394960" y="2286000"/>
            <a:ext cx="100584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394960" y="2286000"/>
            <a:ext cx="100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Espèces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6400800" y="2286000"/>
            <a:ext cx="1920240" cy="457200"/>
          </a:xfrm>
          <a:prstGeom prst="rect">
            <a:avLst/>
          </a:prstGeom>
          <a:solidFill>
            <a:srgbClr val="E8F5E9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0800" y="228600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66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SATIM/CIB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548640" y="2743200"/>
            <a:ext cx="16459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48640" y="274320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Inter-Wilayas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2194560" y="2743200"/>
            <a:ext cx="11887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194560" y="2743200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44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3383280" y="2743200"/>
            <a:ext cx="100584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383280" y="2743200"/>
            <a:ext cx="100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44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(Urbain)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4389120" y="2743200"/>
            <a:ext cx="100584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389120" y="2743200"/>
            <a:ext cx="100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66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5394960" y="2743200"/>
            <a:ext cx="100584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394960" y="2743200"/>
            <a:ext cx="100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44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6400800" y="2743200"/>
            <a:ext cx="1920240" cy="457200"/>
          </a:xfrm>
          <a:prstGeom prst="rect">
            <a:avLst/>
          </a:prstGeom>
          <a:solidFill>
            <a:srgbClr val="E8F5E9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400800" y="274320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66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69 wilayas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548640" y="3200400"/>
            <a:ext cx="16459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48640" y="320040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Évaluation Mutuelle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2194560" y="3200400"/>
            <a:ext cx="11887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2194560" y="3200400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66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50" dirty="0"/>
          </a:p>
        </p:txBody>
      </p:sp>
      <p:sp>
        <p:nvSpPr>
          <p:cNvPr id="61" name="Shape 59"/>
          <p:cNvSpPr/>
          <p:nvPr/>
        </p:nvSpPr>
        <p:spPr>
          <a:xfrm>
            <a:off x="3383280" y="3200400"/>
            <a:ext cx="100584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3383280" y="3200400"/>
            <a:ext cx="100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66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4389120" y="3200400"/>
            <a:ext cx="100584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389120" y="3200400"/>
            <a:ext cx="100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44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950" dirty="0"/>
          </a:p>
        </p:txBody>
      </p:sp>
      <p:sp>
        <p:nvSpPr>
          <p:cNvPr id="65" name="Shape 63"/>
          <p:cNvSpPr/>
          <p:nvPr/>
        </p:nvSpPr>
        <p:spPr>
          <a:xfrm>
            <a:off x="5394960" y="3200400"/>
            <a:ext cx="100584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394960" y="3200400"/>
            <a:ext cx="100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66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50" dirty="0"/>
          </a:p>
        </p:txBody>
      </p:sp>
      <p:sp>
        <p:nvSpPr>
          <p:cNvPr id="67" name="Shape 65"/>
          <p:cNvSpPr/>
          <p:nvPr/>
        </p:nvSpPr>
        <p:spPr>
          <a:xfrm>
            <a:off x="6400800" y="3200400"/>
            <a:ext cx="1920240" cy="457200"/>
          </a:xfrm>
          <a:prstGeom prst="rect">
            <a:avLst/>
          </a:prstGeom>
          <a:solidFill>
            <a:srgbClr val="E8F5E9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400800" y="320040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66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+QR Code</a:t>
            </a:r>
            <a:endParaRPr lang="en-US" sz="950" dirty="0"/>
          </a:p>
        </p:txBody>
      </p:sp>
      <p:sp>
        <p:nvSpPr>
          <p:cNvPr id="69" name="Shape 67"/>
          <p:cNvSpPr/>
          <p:nvPr/>
        </p:nvSpPr>
        <p:spPr>
          <a:xfrm>
            <a:off x="548640" y="3657600"/>
            <a:ext cx="16459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48640" y="365760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Source</a:t>
            </a:r>
            <a:endParaRPr lang="en-US" sz="950" dirty="0"/>
          </a:p>
        </p:txBody>
      </p:sp>
      <p:sp>
        <p:nvSpPr>
          <p:cNvPr id="71" name="Shape 69"/>
          <p:cNvSpPr/>
          <p:nvPr/>
        </p:nvSpPr>
        <p:spPr>
          <a:xfrm>
            <a:off x="2194560" y="3657600"/>
            <a:ext cx="11887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2194560" y="3657600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44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950" dirty="0"/>
          </a:p>
        </p:txBody>
      </p:sp>
      <p:sp>
        <p:nvSpPr>
          <p:cNvPr id="73" name="Shape 71"/>
          <p:cNvSpPr/>
          <p:nvPr/>
        </p:nvSpPr>
        <p:spPr>
          <a:xfrm>
            <a:off x="3383280" y="3657600"/>
            <a:ext cx="100584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3383280" y="3657600"/>
            <a:ext cx="100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44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950" dirty="0"/>
          </a:p>
        </p:txBody>
      </p:sp>
      <p:sp>
        <p:nvSpPr>
          <p:cNvPr id="75" name="Shape 73"/>
          <p:cNvSpPr/>
          <p:nvPr/>
        </p:nvSpPr>
        <p:spPr>
          <a:xfrm>
            <a:off x="4389120" y="3657600"/>
            <a:ext cx="100584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389120" y="3657600"/>
            <a:ext cx="100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44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950" dirty="0"/>
          </a:p>
        </p:txBody>
      </p:sp>
      <p:sp>
        <p:nvSpPr>
          <p:cNvPr id="77" name="Shape 75"/>
          <p:cNvSpPr/>
          <p:nvPr/>
        </p:nvSpPr>
        <p:spPr>
          <a:xfrm>
            <a:off x="5394960" y="3657600"/>
            <a:ext cx="100584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5394960" y="3657600"/>
            <a:ext cx="100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44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950" dirty="0"/>
          </a:p>
        </p:txBody>
      </p:sp>
      <p:sp>
        <p:nvSpPr>
          <p:cNvPr id="79" name="Shape 77"/>
          <p:cNvSpPr/>
          <p:nvPr/>
        </p:nvSpPr>
        <p:spPr>
          <a:xfrm>
            <a:off x="6400800" y="3657600"/>
            <a:ext cx="1920240" cy="457200"/>
          </a:xfrm>
          <a:prstGeom prst="rect">
            <a:avLst/>
          </a:prstGeom>
          <a:solidFill>
            <a:srgbClr val="E8F5E9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400800" y="365760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66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50" dirty="0"/>
          </a:p>
        </p:txBody>
      </p:sp>
      <p:sp>
        <p:nvSpPr>
          <p:cNvPr id="81" name="Shape 79"/>
          <p:cNvSpPr/>
          <p:nvPr/>
        </p:nvSpPr>
        <p:spPr>
          <a:xfrm>
            <a:off x="685800" y="3886200"/>
            <a:ext cx="7772400" cy="594360"/>
          </a:xfrm>
          <a:prstGeom prst="roundRect">
            <a:avLst>
              <a:gd name="adj" fmla="val 12308"/>
            </a:avLst>
          </a:prstGeom>
          <a:solidFill>
            <a:srgbClr val="0F3A23"/>
          </a:solidFill>
          <a:ln w="6350">
            <a:solidFill>
              <a:srgbClr val="4CC080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85800" y="3886200"/>
            <a:ext cx="7772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CC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RohWinBghit est la seule plateforme combinant KYC biométrique + paiement local + couverture 69 wilayas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0" y="365760"/>
            <a:ext cx="4114800" cy="411480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algn="l" indent="0" marL="0">
              <a:buNone/>
            </a:pPr>
            <a:r>
              <a:rPr lang="en-US" sz="22000" b="1" dirty="0">
                <a:solidFill>
                  <a:srgbClr val="ECEA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09</a:t>
            </a:r>
            <a:endParaRPr lang="en-US" sz="220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166E3A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411480"/>
            <a:ext cx="292608" cy="32004"/>
          </a:xfrm>
          <a:prstGeom prst="rect">
            <a:avLst/>
          </a:prstGeom>
          <a:solidFill>
            <a:srgbClr val="4CC080"/>
          </a:solidFill>
          <a:ln w="12700">
            <a:solidFill>
              <a:srgbClr val="4CC0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347472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66E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CONTEXTE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955280" y="347472"/>
            <a:ext cx="713232" cy="274320"/>
          </a:xfrm>
          <a:prstGeom prst="roundRect">
            <a:avLst>
              <a:gd name="adj" fmla="val 50000"/>
            </a:avLst>
          </a:prstGeom>
          <a:solidFill>
            <a:srgbClr val="0F3A23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0" y="347472"/>
            <a:ext cx="7132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CC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09/31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6858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Cadre Réglementaire : Loi 25-11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Protection des données personnelles dans le contexte algérien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85800" y="1783080"/>
            <a:ext cx="365760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  <a:effectLst>
            <a:outerShdw sx="100000" sy="100000" kx="0" ky="0" algn="bl" rotWithShape="0" blurRad="101600" dist="25400" dir="8100000">
              <a:srgbClr val="0A1F14">
                <a:alpha val="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95528" y="2043684"/>
            <a:ext cx="347472" cy="347472"/>
          </a:xfrm>
          <a:prstGeom prst="roundRect">
            <a:avLst>
              <a:gd name="adj" fmla="val 15789"/>
            </a:avLst>
          </a:prstGeom>
          <a:solidFill>
            <a:srgbClr val="F5F1E8"/>
          </a:solidFill>
          <a:ln w="12700">
            <a:solidFill>
              <a:srgbClr val="F5F1E8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2089404"/>
            <a:ext cx="256032" cy="256032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234440" y="1874520"/>
            <a:ext cx="299923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Consentement Explicite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1234440" y="2084832"/>
            <a:ext cx="2999232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Collecte de données uniquement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après accord utilisateur (Art. 7)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4617720" y="1783080"/>
            <a:ext cx="365760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  <a:effectLst>
            <a:outerShdw sx="100000" sy="100000" kx="0" ky="0" algn="bl" rotWithShape="0" blurRad="101600" dist="25400" dir="8100000">
              <a:srgbClr val="0A1F14">
                <a:alpha val="5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4727448" y="2043684"/>
            <a:ext cx="347472" cy="347472"/>
          </a:xfrm>
          <a:prstGeom prst="roundRect">
            <a:avLst>
              <a:gd name="adj" fmla="val 15789"/>
            </a:avLst>
          </a:prstGeom>
          <a:solidFill>
            <a:srgbClr val="F5F1E8"/>
          </a:solidFill>
          <a:ln w="12700">
            <a:solidFill>
              <a:srgbClr val="F5F1E8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3168" y="2089404"/>
            <a:ext cx="256032" cy="256032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5166360" y="1874520"/>
            <a:ext cx="299923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Chiffrement AES-256</a:t>
            </a:r>
            <a:endParaRPr lang="en-US" sz="1150" dirty="0"/>
          </a:p>
        </p:txBody>
      </p:sp>
      <p:sp>
        <p:nvSpPr>
          <p:cNvPr id="19" name="Text 15"/>
          <p:cNvSpPr/>
          <p:nvPr/>
        </p:nvSpPr>
        <p:spPr>
          <a:xfrm>
            <a:off x="5166360" y="2084832"/>
            <a:ext cx="2999232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Données biométriques stockées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chiffrées côté serveur (Art. 42)</a:t>
            </a:r>
            <a:endParaRPr lang="en-US" sz="900" dirty="0"/>
          </a:p>
        </p:txBody>
      </p:sp>
      <p:sp>
        <p:nvSpPr>
          <p:cNvPr id="20" name="Shape 16"/>
          <p:cNvSpPr/>
          <p:nvPr/>
        </p:nvSpPr>
        <p:spPr>
          <a:xfrm>
            <a:off x="685800" y="2834640"/>
            <a:ext cx="365760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  <a:effectLst>
            <a:outerShdw sx="100000" sy="100000" kx="0" ky="0" algn="bl" rotWithShape="0" blurRad="101600" dist="25400" dir="8100000">
              <a:srgbClr val="0A1F14">
                <a:alpha val="5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795528" y="3095244"/>
            <a:ext cx="347472" cy="347472"/>
          </a:xfrm>
          <a:prstGeom prst="roundRect">
            <a:avLst>
              <a:gd name="adj" fmla="val 15789"/>
            </a:avLst>
          </a:prstGeom>
          <a:solidFill>
            <a:srgbClr val="F5F1E8"/>
          </a:solidFill>
          <a:ln w="12700">
            <a:solidFill>
              <a:srgbClr val="F5F1E8"/>
            </a:solidFill>
            <a:prstDash val="solid"/>
          </a:ln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3140964"/>
            <a:ext cx="256032" cy="256032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1234440" y="2926080"/>
            <a:ext cx="299923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Droit à l'Effacement</a:t>
            </a:r>
            <a:endParaRPr lang="en-US" sz="1150" dirty="0"/>
          </a:p>
        </p:txBody>
      </p:sp>
      <p:sp>
        <p:nvSpPr>
          <p:cNvPr id="24" name="Text 19"/>
          <p:cNvSpPr/>
          <p:nvPr/>
        </p:nvSpPr>
        <p:spPr>
          <a:xfrm>
            <a:off x="1234440" y="3136392"/>
            <a:ext cx="2999232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Suppression des données sur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demande de l'utilisateur (Art. 34)</a:t>
            </a:r>
            <a:endParaRPr lang="en-US" sz="900" dirty="0"/>
          </a:p>
        </p:txBody>
      </p:sp>
      <p:sp>
        <p:nvSpPr>
          <p:cNvPr id="25" name="Shape 20"/>
          <p:cNvSpPr/>
          <p:nvPr/>
        </p:nvSpPr>
        <p:spPr>
          <a:xfrm>
            <a:off x="4617720" y="2834640"/>
            <a:ext cx="365760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  <a:effectLst>
            <a:outerShdw sx="100000" sy="100000" kx="0" ky="0" algn="bl" rotWithShape="0" blurRad="101600" dist="25400" dir="8100000">
              <a:srgbClr val="0A1F14">
                <a:alpha val="5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4727448" y="3095244"/>
            <a:ext cx="347472" cy="347472"/>
          </a:xfrm>
          <a:prstGeom prst="roundRect">
            <a:avLst>
              <a:gd name="adj" fmla="val 15789"/>
            </a:avLst>
          </a:prstGeom>
          <a:solidFill>
            <a:srgbClr val="F5F1E8"/>
          </a:solidFill>
          <a:ln w="12700">
            <a:solidFill>
              <a:srgbClr val="F5F1E8"/>
            </a:solidFill>
            <a:prstDash val="solid"/>
          </a:ln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73168" y="3140964"/>
            <a:ext cx="256032" cy="256032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5166360" y="2926080"/>
            <a:ext cx="299923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Traitement Local</a:t>
            </a:r>
            <a:endParaRPr lang="en-US" sz="1150" dirty="0"/>
          </a:p>
        </p:txBody>
      </p:sp>
      <p:sp>
        <p:nvSpPr>
          <p:cNvPr id="29" name="Text 23"/>
          <p:cNvSpPr/>
          <p:nvPr/>
        </p:nvSpPr>
        <p:spPr>
          <a:xfrm>
            <a:off x="5166360" y="3136392"/>
            <a:ext cx="2999232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 transfert transfrontalier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sans cadre légal (Art. 44)</a:t>
            </a:r>
            <a:endParaRPr lang="en-US" sz="900" dirty="0"/>
          </a:p>
        </p:txBody>
      </p:sp>
      <p:sp>
        <p:nvSpPr>
          <p:cNvPr id="30" name="Shape 24"/>
          <p:cNvSpPr/>
          <p:nvPr/>
        </p:nvSpPr>
        <p:spPr>
          <a:xfrm>
            <a:off x="685800" y="4023360"/>
            <a:ext cx="7772400" cy="502920"/>
          </a:xfrm>
          <a:prstGeom prst="roundRect">
            <a:avLst>
              <a:gd name="adj" fmla="val 14545"/>
            </a:avLst>
          </a:prstGeom>
          <a:solidFill>
            <a:srgbClr val="E8F5E9"/>
          </a:solidFill>
          <a:ln w="6350">
            <a:solidFill>
              <a:srgbClr val="166E3A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685800" y="4023360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6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RohWinBghit est conçu en conformité totale avec la Loi 25-11 et les principes GDPR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3A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0" y="365760"/>
            <a:ext cx="4114800" cy="411480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algn="l" indent="0" marL="0">
              <a:buNone/>
            </a:pPr>
            <a:r>
              <a:rPr lang="en-US" sz="22000" b="1" dirty="0">
                <a:solidFill>
                  <a:srgbClr val="163F2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</a:t>
            </a:r>
            <a:endParaRPr lang="en-US" sz="220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166E3A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411480"/>
            <a:ext cx="292608" cy="32004"/>
          </a:xfrm>
          <a:prstGeom prst="rect">
            <a:avLst/>
          </a:prstGeom>
          <a:solidFill>
            <a:srgbClr val="4CC080"/>
          </a:solidFill>
          <a:ln w="12700">
            <a:solidFill>
              <a:srgbClr val="4CC0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347472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CC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MÉTHODOLOGIE &amp; ARCHITECTURE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955280" y="347472"/>
            <a:ext cx="713232" cy="274320"/>
          </a:xfrm>
          <a:prstGeom prst="roundRect">
            <a:avLst>
              <a:gd name="adj" fmla="val 50000"/>
            </a:avLst>
          </a:prstGeom>
          <a:solidFill>
            <a:srgbClr val="0A1F14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0" y="347472"/>
            <a:ext cx="7132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CC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10/31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645920" y="1463040"/>
            <a:ext cx="1828800" cy="1828800"/>
          </a:xfrm>
          <a:prstGeom prst="ellipse">
            <a:avLst/>
          </a:prstGeom>
          <a:solidFill>
            <a:srgbClr val="4CC080"/>
          </a:solidFill>
          <a:ln w="12700">
            <a:solidFill>
              <a:srgbClr val="4CC080"/>
            </a:solidFill>
            <a:prstDash val="solid"/>
          </a:ln>
          <a:effectLst>
            <a:outerShdw sx="100000" sy="100000" kx="0" ky="0" algn="bl" rotWithShape="0" blurRad="152400" dist="38100" dir="10800000">
              <a:srgbClr val="000000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645920" y="146304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0A1F1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7200" dirty="0"/>
          </a:p>
        </p:txBody>
      </p:sp>
      <p:sp>
        <p:nvSpPr>
          <p:cNvPr id="10" name="Text 8"/>
          <p:cNvSpPr/>
          <p:nvPr/>
        </p:nvSpPr>
        <p:spPr>
          <a:xfrm>
            <a:off x="3840480" y="1645920"/>
            <a:ext cx="4846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Méthodologie &amp; Architecture</a:t>
            </a:r>
            <a:endParaRPr lang="en-US" sz="3200" dirty="0"/>
          </a:p>
        </p:txBody>
      </p:sp>
      <p:sp>
        <p:nvSpPr>
          <p:cNvPr id="11" name="Shape 9"/>
          <p:cNvSpPr/>
          <p:nvPr/>
        </p:nvSpPr>
        <p:spPr>
          <a:xfrm>
            <a:off x="3840480" y="2743200"/>
            <a:ext cx="2743200" cy="36576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0" y="297180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? Avec quelles technologies ?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0" y="365760"/>
            <a:ext cx="4114800" cy="411480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algn="l" indent="0" marL="0">
              <a:buNone/>
            </a:pPr>
            <a:r>
              <a:rPr lang="en-US" sz="22000" b="1" dirty="0">
                <a:solidFill>
                  <a:srgbClr val="ECEA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11</a:t>
            </a:r>
            <a:endParaRPr lang="en-US" sz="220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166E3A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411480"/>
            <a:ext cx="292608" cy="32004"/>
          </a:xfrm>
          <a:prstGeom prst="rect">
            <a:avLst/>
          </a:prstGeom>
          <a:solidFill>
            <a:srgbClr val="4CC080"/>
          </a:solidFill>
          <a:ln w="12700">
            <a:solidFill>
              <a:srgbClr val="4CC0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347472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66E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MÉTHODOLOGIE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955280" y="347472"/>
            <a:ext cx="713232" cy="274320"/>
          </a:xfrm>
          <a:prstGeom prst="roundRect">
            <a:avLst>
              <a:gd name="adj" fmla="val 50000"/>
            </a:avLst>
          </a:prstGeom>
          <a:solidFill>
            <a:srgbClr val="0F3A23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0" y="347472"/>
            <a:ext cx="7132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CC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11/31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6858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Agile : 5 Sprints en 10 Semaines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685800" y="1508760"/>
            <a:ext cx="7772400" cy="73152"/>
          </a:xfrm>
          <a:prstGeom prst="rect">
            <a:avLst/>
          </a:prstGeom>
          <a:solidFill>
            <a:srgbClr val="4CC080"/>
          </a:solidFill>
          <a:ln w="12700">
            <a:solidFill>
              <a:srgbClr val="4CC08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325880" y="1399032"/>
            <a:ext cx="274320" cy="274320"/>
          </a:xfrm>
          <a:prstGeom prst="ellipse">
            <a:avLst/>
          </a:prstGeom>
          <a:solidFill>
            <a:srgbClr val="166E3A"/>
          </a:solidFill>
          <a:ln w="12700">
            <a:solidFill>
              <a:srgbClr val="4CC08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25880" y="13990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F1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S1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731520" y="1920240"/>
            <a:ext cx="1463040" cy="1645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201168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&amp; Profils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31520" y="2359152"/>
            <a:ext cx="1463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1-2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51560" y="2697480"/>
            <a:ext cx="822960" cy="201168"/>
          </a:xfrm>
          <a:prstGeom prst="roundRect">
            <a:avLst>
              <a:gd name="adj" fmla="val 50000"/>
            </a:avLst>
          </a:prstGeom>
          <a:solidFill>
            <a:srgbClr val="0F3A23"/>
          </a:solidFill>
          <a:ln w="12700">
            <a:solidFill>
              <a:srgbClr val="0F3A2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51560" y="2697480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CC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SP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2880360" y="1399032"/>
            <a:ext cx="274320" cy="274320"/>
          </a:xfrm>
          <a:prstGeom prst="ellipse">
            <a:avLst/>
          </a:prstGeom>
          <a:solidFill>
            <a:srgbClr val="166E3A"/>
          </a:solidFill>
          <a:ln w="12700">
            <a:solidFill>
              <a:srgbClr val="4CC08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880360" y="13990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F1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S2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286000" y="1920240"/>
            <a:ext cx="1463040" cy="1645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286000" y="201168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Trajets &amp; Réservation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2286000" y="2359152"/>
            <a:ext cx="1463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3-4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606040" y="2697480"/>
            <a:ext cx="822960" cy="201168"/>
          </a:xfrm>
          <a:prstGeom prst="roundRect">
            <a:avLst>
              <a:gd name="adj" fmla="val 50000"/>
            </a:avLst>
          </a:prstGeom>
          <a:solidFill>
            <a:srgbClr val="0F3A23"/>
          </a:solidFill>
          <a:ln w="12700">
            <a:solidFill>
              <a:srgbClr val="0F3A2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606040" y="2697480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CC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 SP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434840" y="1399032"/>
            <a:ext cx="274320" cy="274320"/>
          </a:xfrm>
          <a:prstGeom prst="ellipse">
            <a:avLst/>
          </a:prstGeom>
          <a:solidFill>
            <a:srgbClr val="0F3A23"/>
          </a:solidFill>
          <a:ln w="12700">
            <a:solidFill>
              <a:srgbClr val="4CC08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434840" y="13990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F1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S3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840480" y="1920240"/>
            <a:ext cx="1463040" cy="1645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840480" y="201168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KYC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3840480" y="2359152"/>
            <a:ext cx="1463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5-6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160520" y="2697480"/>
            <a:ext cx="822960" cy="201168"/>
          </a:xfrm>
          <a:prstGeom prst="roundRect">
            <a:avLst>
              <a:gd name="adj" fmla="val 50000"/>
            </a:avLst>
          </a:prstGeom>
          <a:solidFill>
            <a:srgbClr val="0F3A23"/>
          </a:solidFill>
          <a:ln w="12700">
            <a:solidFill>
              <a:srgbClr val="0F3A2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160520" y="2697480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CC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SP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5989320" y="1399032"/>
            <a:ext cx="274320" cy="274320"/>
          </a:xfrm>
          <a:prstGeom prst="ellipse">
            <a:avLst/>
          </a:prstGeom>
          <a:solidFill>
            <a:srgbClr val="166E3A"/>
          </a:solidFill>
          <a:ln w="12700">
            <a:solidFill>
              <a:srgbClr val="4CC08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89320" y="13990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F1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S4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394960" y="1920240"/>
            <a:ext cx="1463040" cy="1645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394960" y="201168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Paiement &amp; QR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5394960" y="2359152"/>
            <a:ext cx="1463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7-8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715000" y="2697480"/>
            <a:ext cx="822960" cy="201168"/>
          </a:xfrm>
          <a:prstGeom prst="roundRect">
            <a:avLst>
              <a:gd name="adj" fmla="val 50000"/>
            </a:avLst>
          </a:prstGeom>
          <a:solidFill>
            <a:srgbClr val="0F3A23"/>
          </a:solidFill>
          <a:ln w="12700">
            <a:solidFill>
              <a:srgbClr val="0F3A2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715000" y="2697480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CC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SP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7543800" y="1399032"/>
            <a:ext cx="274320" cy="274320"/>
          </a:xfrm>
          <a:prstGeom prst="ellipse">
            <a:avLst/>
          </a:prstGeom>
          <a:solidFill>
            <a:srgbClr val="166E3A"/>
          </a:solidFill>
          <a:ln w="12700">
            <a:solidFill>
              <a:srgbClr val="4CC08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543800" y="13990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F1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S5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949440" y="1920240"/>
            <a:ext cx="1463040" cy="1645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949440" y="201168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&amp; Tests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6949440" y="2359152"/>
            <a:ext cx="1463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9-10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269480" y="2697480"/>
            <a:ext cx="822960" cy="201168"/>
          </a:xfrm>
          <a:prstGeom prst="roundRect">
            <a:avLst>
              <a:gd name="adj" fmla="val 50000"/>
            </a:avLst>
          </a:prstGeom>
          <a:solidFill>
            <a:srgbClr val="0F3A23"/>
          </a:solidFill>
          <a:ln w="12700">
            <a:solidFill>
              <a:srgbClr val="0F3A2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269480" y="2697480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CC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SP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685800" y="3931920"/>
            <a:ext cx="7772400" cy="502920"/>
          </a:xfrm>
          <a:prstGeom prst="roundRect">
            <a:avLst>
              <a:gd name="adj" fmla="val 14545"/>
            </a:avLst>
          </a:prstGeom>
          <a:solidFill>
            <a:srgbClr val="E8F5E9"/>
          </a:solidFill>
          <a:ln w="6350">
            <a:solidFill>
              <a:srgbClr val="166E3A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85800" y="3931920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6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Vélocité totale : 130 Story Points  •  Moyenne : 26 SP/Sprint  •  Rétrospectives après chaque sprint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0" y="365760"/>
            <a:ext cx="4114800" cy="411480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algn="l" indent="0" marL="0">
              <a:buNone/>
            </a:pPr>
            <a:r>
              <a:rPr lang="en-US" sz="22000" b="1" dirty="0">
                <a:solidFill>
                  <a:srgbClr val="ECEA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12</a:t>
            </a:r>
            <a:endParaRPr lang="en-US" sz="220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166E3A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411480"/>
            <a:ext cx="292608" cy="32004"/>
          </a:xfrm>
          <a:prstGeom prst="rect">
            <a:avLst/>
          </a:prstGeom>
          <a:solidFill>
            <a:srgbClr val="4CC080"/>
          </a:solidFill>
          <a:ln w="12700">
            <a:solidFill>
              <a:srgbClr val="4CC0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347472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66E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MÉTHODOLOGIE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955280" y="347472"/>
            <a:ext cx="713232" cy="274320"/>
          </a:xfrm>
          <a:prstGeom prst="roundRect">
            <a:avLst>
              <a:gd name="adj" fmla="val 50000"/>
            </a:avLst>
          </a:prstGeom>
          <a:solidFill>
            <a:srgbClr val="0F3A23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0" y="347472"/>
            <a:ext cx="7132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CC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12/31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6858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Technique Moderne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371600"/>
            <a:ext cx="1280160" cy="274320"/>
          </a:xfrm>
          <a:prstGeom prst="roundRect">
            <a:avLst>
              <a:gd name="adj" fmla="val 20000"/>
            </a:avLst>
          </a:prstGeom>
          <a:solidFill>
            <a:srgbClr val="0F3A23"/>
          </a:solidFill>
          <a:ln w="12700">
            <a:solidFill>
              <a:srgbClr val="0F3A2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37160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CC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FRONTEND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1920240" y="1280160"/>
            <a:ext cx="621792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93392" y="1353312"/>
            <a:ext cx="274320" cy="27432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2331720" y="1298448"/>
            <a:ext cx="5715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Native (Expo)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2331720" y="1481328"/>
            <a:ext cx="5715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cross-platform iOS/Android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502920" y="2057400"/>
            <a:ext cx="1280160" cy="274320"/>
          </a:xfrm>
          <a:prstGeom prst="roundRect">
            <a:avLst>
              <a:gd name="adj" fmla="val 20000"/>
            </a:avLst>
          </a:prstGeom>
          <a:solidFill>
            <a:srgbClr val="0F3A23"/>
          </a:solidFill>
          <a:ln w="12700">
            <a:solidFill>
              <a:srgbClr val="0F3A2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02920" y="205740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CC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BACKEND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1920240" y="1965960"/>
            <a:ext cx="30632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3392" y="2039112"/>
            <a:ext cx="274320" cy="27432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2331720" y="198424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+ Express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2331720" y="2167128"/>
            <a:ext cx="2560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REST principale</a:t>
            </a:r>
            <a:endParaRPr lang="en-US" sz="850" dirty="0"/>
          </a:p>
        </p:txBody>
      </p:sp>
      <p:sp>
        <p:nvSpPr>
          <p:cNvPr id="21" name="Shape 17"/>
          <p:cNvSpPr/>
          <p:nvPr/>
        </p:nvSpPr>
        <p:spPr>
          <a:xfrm>
            <a:off x="5074920" y="1965960"/>
            <a:ext cx="30632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8072" y="2039112"/>
            <a:ext cx="274320" cy="274320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5486400" y="198424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(Python)</a:t>
            </a:r>
            <a:endParaRPr lang="en-US" sz="1050" dirty="0"/>
          </a:p>
        </p:txBody>
      </p:sp>
      <p:sp>
        <p:nvSpPr>
          <p:cNvPr id="24" name="Text 19"/>
          <p:cNvSpPr/>
          <p:nvPr/>
        </p:nvSpPr>
        <p:spPr>
          <a:xfrm>
            <a:off x="5486400" y="2167128"/>
            <a:ext cx="2560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KYC/IA</a:t>
            </a:r>
            <a:endParaRPr lang="en-US" sz="850" dirty="0"/>
          </a:p>
        </p:txBody>
      </p:sp>
      <p:sp>
        <p:nvSpPr>
          <p:cNvPr id="25" name="Shape 20"/>
          <p:cNvSpPr/>
          <p:nvPr/>
        </p:nvSpPr>
        <p:spPr>
          <a:xfrm>
            <a:off x="502920" y="2743200"/>
            <a:ext cx="1280160" cy="274320"/>
          </a:xfrm>
          <a:prstGeom prst="roundRect">
            <a:avLst>
              <a:gd name="adj" fmla="val 20000"/>
            </a:avLst>
          </a:prstGeom>
          <a:solidFill>
            <a:srgbClr val="0F3A23"/>
          </a:solidFill>
          <a:ln w="12700">
            <a:solidFill>
              <a:srgbClr val="0F3A23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502920" y="274320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CC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 &amp; INFRA</a:t>
            </a:r>
            <a:endParaRPr lang="en-US" sz="900" dirty="0"/>
          </a:p>
        </p:txBody>
      </p:sp>
      <p:sp>
        <p:nvSpPr>
          <p:cNvPr id="27" name="Shape 22"/>
          <p:cNvSpPr/>
          <p:nvPr/>
        </p:nvSpPr>
        <p:spPr>
          <a:xfrm>
            <a:off x="1920240" y="2651760"/>
            <a:ext cx="201168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93392" y="2724912"/>
            <a:ext cx="274320" cy="274320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2331720" y="2670048"/>
            <a:ext cx="1508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050" dirty="0"/>
          </a:p>
        </p:txBody>
      </p:sp>
      <p:sp>
        <p:nvSpPr>
          <p:cNvPr id="30" name="Text 24"/>
          <p:cNvSpPr/>
          <p:nvPr/>
        </p:nvSpPr>
        <p:spPr>
          <a:xfrm>
            <a:off x="2331720" y="2852928"/>
            <a:ext cx="1508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données relationnelle</a:t>
            </a:r>
            <a:endParaRPr lang="en-US" sz="850" dirty="0"/>
          </a:p>
        </p:txBody>
      </p:sp>
      <p:sp>
        <p:nvSpPr>
          <p:cNvPr id="31" name="Shape 25"/>
          <p:cNvSpPr/>
          <p:nvPr/>
        </p:nvSpPr>
        <p:spPr>
          <a:xfrm>
            <a:off x="4023360" y="2651760"/>
            <a:ext cx="201168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96512" y="2724912"/>
            <a:ext cx="274320" cy="274320"/>
          </a:xfrm>
          <a:prstGeom prst="rect">
            <a:avLst/>
          </a:prstGeom>
        </p:spPr>
      </p:pic>
      <p:sp>
        <p:nvSpPr>
          <p:cNvPr id="33" name="Text 26"/>
          <p:cNvSpPr/>
          <p:nvPr/>
        </p:nvSpPr>
        <p:spPr>
          <a:xfrm>
            <a:off x="4434840" y="2670048"/>
            <a:ext cx="1508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</a:t>
            </a:r>
            <a:endParaRPr lang="en-US" sz="1050" dirty="0"/>
          </a:p>
        </p:txBody>
      </p:sp>
      <p:sp>
        <p:nvSpPr>
          <p:cNvPr id="34" name="Text 27"/>
          <p:cNvSpPr/>
          <p:nvPr/>
        </p:nvSpPr>
        <p:spPr>
          <a:xfrm>
            <a:off x="4434840" y="2852928"/>
            <a:ext cx="1508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 &amp; sessions</a:t>
            </a:r>
            <a:endParaRPr lang="en-US" sz="850" dirty="0"/>
          </a:p>
        </p:txBody>
      </p:sp>
      <p:sp>
        <p:nvSpPr>
          <p:cNvPr id="35" name="Shape 28"/>
          <p:cNvSpPr/>
          <p:nvPr/>
        </p:nvSpPr>
        <p:spPr>
          <a:xfrm>
            <a:off x="6126480" y="2651760"/>
            <a:ext cx="201168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pic>
        <p:nvPicPr>
          <p:cNvPr id="3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99632" y="2724912"/>
            <a:ext cx="274320" cy="274320"/>
          </a:xfrm>
          <a:prstGeom prst="rect">
            <a:avLst/>
          </a:prstGeom>
        </p:spPr>
      </p:pic>
      <p:sp>
        <p:nvSpPr>
          <p:cNvPr id="37" name="Text 29"/>
          <p:cNvSpPr/>
          <p:nvPr/>
        </p:nvSpPr>
        <p:spPr>
          <a:xfrm>
            <a:off x="6537960" y="2670048"/>
            <a:ext cx="1508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+ Nginx</a:t>
            </a:r>
            <a:endParaRPr lang="en-US" sz="1050" dirty="0"/>
          </a:p>
        </p:txBody>
      </p:sp>
      <p:sp>
        <p:nvSpPr>
          <p:cNvPr id="38" name="Text 30"/>
          <p:cNvSpPr/>
          <p:nvPr/>
        </p:nvSpPr>
        <p:spPr>
          <a:xfrm>
            <a:off x="6537960" y="2852928"/>
            <a:ext cx="1508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Conteneurisation &amp; reverse proxy</a:t>
            </a:r>
            <a:endParaRPr lang="en-US" sz="850" dirty="0"/>
          </a:p>
        </p:txBody>
      </p:sp>
      <p:sp>
        <p:nvSpPr>
          <p:cNvPr id="39" name="Shape 31"/>
          <p:cNvSpPr/>
          <p:nvPr/>
        </p:nvSpPr>
        <p:spPr>
          <a:xfrm>
            <a:off x="502920" y="3291840"/>
            <a:ext cx="2697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  <a:effectLst>
            <a:outerShdw sx="100000" sy="100000" kx="0" ky="0" algn="bl" rotWithShape="0" blurRad="101600" dist="25400" dir="8100000">
              <a:srgbClr val="0A1F14">
                <a:alpha val="5000"/>
              </a:srgbClr>
            </a:outerShdw>
          </a:effectLst>
        </p:spPr>
      </p:sp>
      <p:sp>
        <p:nvSpPr>
          <p:cNvPr id="40" name="Shape 32"/>
          <p:cNvSpPr/>
          <p:nvPr/>
        </p:nvSpPr>
        <p:spPr>
          <a:xfrm>
            <a:off x="612648" y="3621024"/>
            <a:ext cx="347472" cy="347472"/>
          </a:xfrm>
          <a:prstGeom prst="roundRect">
            <a:avLst>
              <a:gd name="adj" fmla="val 15789"/>
            </a:avLst>
          </a:prstGeom>
          <a:solidFill>
            <a:srgbClr val="F5F1E8"/>
          </a:solidFill>
          <a:ln w="12700">
            <a:solidFill>
              <a:srgbClr val="F5F1E8"/>
            </a:solidFill>
            <a:prstDash val="solid"/>
          </a:ln>
        </p:spPr>
      </p:sp>
      <p:pic>
        <p:nvPicPr>
          <p:cNvPr id="4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8368" y="3666744"/>
            <a:ext cx="256032" cy="256032"/>
          </a:xfrm>
          <a:prstGeom prst="rect">
            <a:avLst/>
          </a:prstGeom>
        </p:spPr>
      </p:pic>
      <p:sp>
        <p:nvSpPr>
          <p:cNvPr id="42" name="Text 33"/>
          <p:cNvSpPr/>
          <p:nvPr/>
        </p:nvSpPr>
        <p:spPr>
          <a:xfrm>
            <a:off x="1051560" y="3383280"/>
            <a:ext cx="20391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Sécurité</a:t>
            </a:r>
            <a:endParaRPr lang="en-US" sz="1150" dirty="0"/>
          </a:p>
        </p:txBody>
      </p:sp>
      <p:sp>
        <p:nvSpPr>
          <p:cNvPr id="43" name="Text 34"/>
          <p:cNvSpPr/>
          <p:nvPr/>
        </p:nvSpPr>
        <p:spPr>
          <a:xfrm>
            <a:off x="1051560" y="3593592"/>
            <a:ext cx="203911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+ Bcrypt + AES-256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Chiffrement de bout en bout</a:t>
            </a:r>
            <a:endParaRPr lang="en-US" sz="900" dirty="0"/>
          </a:p>
        </p:txBody>
      </p:sp>
      <p:sp>
        <p:nvSpPr>
          <p:cNvPr id="44" name="Shape 35"/>
          <p:cNvSpPr/>
          <p:nvPr/>
        </p:nvSpPr>
        <p:spPr>
          <a:xfrm>
            <a:off x="3383280" y="3291840"/>
            <a:ext cx="2697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  <a:effectLst>
            <a:outerShdw sx="100000" sy="100000" kx="0" ky="0" algn="bl" rotWithShape="0" blurRad="101600" dist="25400" dir="8100000">
              <a:srgbClr val="0A1F14">
                <a:alpha val="5000"/>
              </a:srgbClr>
            </a:outerShdw>
          </a:effectLst>
        </p:spPr>
      </p:sp>
      <p:sp>
        <p:nvSpPr>
          <p:cNvPr id="45" name="Shape 36"/>
          <p:cNvSpPr/>
          <p:nvPr/>
        </p:nvSpPr>
        <p:spPr>
          <a:xfrm>
            <a:off x="3493008" y="3621024"/>
            <a:ext cx="347472" cy="347472"/>
          </a:xfrm>
          <a:prstGeom prst="roundRect">
            <a:avLst>
              <a:gd name="adj" fmla="val 15789"/>
            </a:avLst>
          </a:prstGeom>
          <a:solidFill>
            <a:srgbClr val="F5F1E8"/>
          </a:solidFill>
          <a:ln w="12700">
            <a:solidFill>
              <a:srgbClr val="F5F1E8"/>
            </a:solidFill>
            <a:prstDash val="solid"/>
          </a:ln>
        </p:spPr>
      </p:sp>
      <p:pic>
        <p:nvPicPr>
          <p:cNvPr id="46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538728" y="3666744"/>
            <a:ext cx="256032" cy="256032"/>
          </a:xfrm>
          <a:prstGeom prst="rect">
            <a:avLst/>
          </a:prstGeom>
        </p:spPr>
      </p:pic>
      <p:sp>
        <p:nvSpPr>
          <p:cNvPr id="47" name="Text 37"/>
          <p:cNvSpPr/>
          <p:nvPr/>
        </p:nvSpPr>
        <p:spPr>
          <a:xfrm>
            <a:off x="3931920" y="3383280"/>
            <a:ext cx="20391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endParaRPr lang="en-US" sz="1150" dirty="0"/>
          </a:p>
        </p:txBody>
      </p:sp>
      <p:sp>
        <p:nvSpPr>
          <p:cNvPr id="48" name="Text 38"/>
          <p:cNvSpPr/>
          <p:nvPr/>
        </p:nvSpPr>
        <p:spPr>
          <a:xfrm>
            <a:off x="3931920" y="3593592"/>
            <a:ext cx="203911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caching, requêtes &lt; 200ms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Optimistic locking PostgreSQL</a:t>
            </a:r>
            <a:endParaRPr lang="en-US" sz="900" dirty="0"/>
          </a:p>
        </p:txBody>
      </p:sp>
      <p:sp>
        <p:nvSpPr>
          <p:cNvPr id="49" name="Shape 39"/>
          <p:cNvSpPr/>
          <p:nvPr/>
        </p:nvSpPr>
        <p:spPr>
          <a:xfrm>
            <a:off x="6263640" y="3291840"/>
            <a:ext cx="2697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  <a:effectLst>
            <a:outerShdw sx="100000" sy="100000" kx="0" ky="0" algn="bl" rotWithShape="0" blurRad="101600" dist="25400" dir="8100000">
              <a:srgbClr val="0A1F14">
                <a:alpha val="5000"/>
              </a:srgbClr>
            </a:outerShdw>
          </a:effectLst>
        </p:spPr>
      </p:sp>
      <p:sp>
        <p:nvSpPr>
          <p:cNvPr id="50" name="Shape 40"/>
          <p:cNvSpPr/>
          <p:nvPr/>
        </p:nvSpPr>
        <p:spPr>
          <a:xfrm>
            <a:off x="6373368" y="3621024"/>
            <a:ext cx="347472" cy="347472"/>
          </a:xfrm>
          <a:prstGeom prst="roundRect">
            <a:avLst>
              <a:gd name="adj" fmla="val 15789"/>
            </a:avLst>
          </a:prstGeom>
          <a:solidFill>
            <a:srgbClr val="F5F1E8"/>
          </a:solidFill>
          <a:ln w="12700">
            <a:solidFill>
              <a:srgbClr val="F5F1E8"/>
            </a:solidFill>
            <a:prstDash val="solid"/>
          </a:ln>
        </p:spPr>
      </p:sp>
      <p:pic>
        <p:nvPicPr>
          <p:cNvPr id="51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19088" y="3666744"/>
            <a:ext cx="256032" cy="256032"/>
          </a:xfrm>
          <a:prstGeom prst="rect">
            <a:avLst/>
          </a:prstGeom>
        </p:spPr>
      </p:pic>
      <p:sp>
        <p:nvSpPr>
          <p:cNvPr id="52" name="Text 41"/>
          <p:cNvSpPr/>
          <p:nvPr/>
        </p:nvSpPr>
        <p:spPr>
          <a:xfrm>
            <a:off x="6812280" y="3383280"/>
            <a:ext cx="20391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Qualité</a:t>
            </a:r>
            <a:endParaRPr lang="en-US" sz="1150" dirty="0"/>
          </a:p>
        </p:txBody>
      </p:sp>
      <p:sp>
        <p:nvSpPr>
          <p:cNvPr id="53" name="Text 42"/>
          <p:cNvSpPr/>
          <p:nvPr/>
        </p:nvSpPr>
        <p:spPr>
          <a:xfrm>
            <a:off x="6812280" y="3593592"/>
            <a:ext cx="203911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ESLint + Prettier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147/151 tests Jest (97.4%)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0" y="365760"/>
            <a:ext cx="4114800" cy="411480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algn="l" indent="0" marL="0">
              <a:buNone/>
            </a:pPr>
            <a:r>
              <a:rPr lang="en-US" sz="22000" b="1" dirty="0">
                <a:solidFill>
                  <a:srgbClr val="ECEA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13</a:t>
            </a:r>
            <a:endParaRPr lang="en-US" sz="220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166E3A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411480"/>
            <a:ext cx="292608" cy="32004"/>
          </a:xfrm>
          <a:prstGeom prst="rect">
            <a:avLst/>
          </a:prstGeom>
          <a:solidFill>
            <a:srgbClr val="4CC080"/>
          </a:solidFill>
          <a:ln w="12700">
            <a:solidFill>
              <a:srgbClr val="4CC0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347472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66E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955280" y="347472"/>
            <a:ext cx="713232" cy="274320"/>
          </a:xfrm>
          <a:prstGeom prst="roundRect">
            <a:avLst>
              <a:gd name="adj" fmla="val 50000"/>
            </a:avLst>
          </a:prstGeom>
          <a:solidFill>
            <a:srgbClr val="0F3A23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0" y="347472"/>
            <a:ext cx="7132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CC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13/31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6858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Multi-Services Distribuée</a:t>
            </a:r>
            <a:endParaRPr lang="en-US" sz="2800" dirty="0"/>
          </a:p>
        </p:txBody>
      </p:sp>
      <p:pic>
        <p:nvPicPr>
          <p:cNvPr id="9" name="Image 0" descr="/Users/mohamed/Downloads/RohWinBghit_LaTeX_Complet/figures/fig_architecture2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371600"/>
            <a:ext cx="8229600" cy="33832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0" y="365760"/>
            <a:ext cx="4114800" cy="411480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algn="l" indent="0" marL="0">
              <a:buNone/>
            </a:pPr>
            <a:r>
              <a:rPr lang="en-US" sz="22000" b="1" dirty="0">
                <a:solidFill>
                  <a:srgbClr val="ECEA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14</a:t>
            </a:r>
            <a:endParaRPr lang="en-US" sz="220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166E3A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411480"/>
            <a:ext cx="292608" cy="32004"/>
          </a:xfrm>
          <a:prstGeom prst="rect">
            <a:avLst/>
          </a:prstGeom>
          <a:solidFill>
            <a:srgbClr val="4CC080"/>
          </a:solidFill>
          <a:ln w="12700">
            <a:solidFill>
              <a:srgbClr val="4CC0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347472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66E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INNOVATION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955280" y="347472"/>
            <a:ext cx="713232" cy="274320"/>
          </a:xfrm>
          <a:prstGeom prst="roundRect">
            <a:avLst>
              <a:gd name="adj" fmla="val 50000"/>
            </a:avLst>
          </a:prstGeom>
          <a:solidFill>
            <a:srgbClr val="0F3A23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0" y="347472"/>
            <a:ext cx="7132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CC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14/31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6858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Biométrique KYC d'IA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371600"/>
            <a:ext cx="2697480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  <a:effectLst>
            <a:outerShdw sx="100000" sy="100000" kx="0" ky="0" algn="bl" rotWithShape="0" blurRad="101600" dist="25400" dir="8100000">
              <a:srgbClr val="0A1F14">
                <a:alpha val="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554480" y="1508760"/>
            <a:ext cx="502920" cy="502920"/>
          </a:xfrm>
          <a:prstGeom prst="ellipse">
            <a:avLst/>
          </a:prstGeom>
          <a:solidFill>
            <a:srgbClr val="0F3A23"/>
          </a:solidFill>
          <a:ln w="19050">
            <a:solidFill>
              <a:srgbClr val="4CC08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15087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CC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0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00200" y="2103120"/>
            <a:ext cx="457200" cy="45720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502920" y="2651760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 Document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640080" y="2926080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Extraction des données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d'identité depuis la CNI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(nom, prénom, n° carte)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3108960" y="21945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4CC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16" name="Shape 13"/>
          <p:cNvSpPr/>
          <p:nvPr/>
        </p:nvSpPr>
        <p:spPr>
          <a:xfrm>
            <a:off x="3383280" y="1371600"/>
            <a:ext cx="2697480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  <a:effectLst>
            <a:outerShdw sx="100000" sy="100000" kx="0" ky="0" algn="bl" rotWithShape="0" blurRad="101600" dist="25400" dir="8100000">
              <a:srgbClr val="0A1F14">
                <a:alpha val="5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4434840" y="1508760"/>
            <a:ext cx="502920" cy="502920"/>
          </a:xfrm>
          <a:prstGeom prst="ellipse">
            <a:avLst/>
          </a:prstGeom>
          <a:solidFill>
            <a:srgbClr val="0F3A23"/>
          </a:solidFill>
          <a:ln w="19050">
            <a:solidFill>
              <a:srgbClr val="4CC08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434840" y="15087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CC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000" dirty="0"/>
          </a:p>
        </p:txBody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0" y="2103120"/>
            <a:ext cx="457200" cy="457200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3383280" y="2651760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ArcFace Match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3520440" y="2926080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Comparaison faciale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 CNI vs selfie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Seuil : 0.65 (conducteur)</a:t>
            </a:r>
            <a:endParaRPr lang="en-US" sz="950" dirty="0"/>
          </a:p>
        </p:txBody>
      </p:sp>
      <p:sp>
        <p:nvSpPr>
          <p:cNvPr id="22" name="Text 18"/>
          <p:cNvSpPr/>
          <p:nvPr/>
        </p:nvSpPr>
        <p:spPr>
          <a:xfrm>
            <a:off x="5989320" y="21945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4CC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23" name="Shape 19"/>
          <p:cNvSpPr/>
          <p:nvPr/>
        </p:nvSpPr>
        <p:spPr>
          <a:xfrm>
            <a:off x="6263640" y="1371600"/>
            <a:ext cx="2697480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  <a:effectLst>
            <a:outerShdw sx="100000" sy="100000" kx="0" ky="0" algn="bl" rotWithShape="0" blurRad="101600" dist="25400" dir="8100000">
              <a:srgbClr val="0A1F14">
                <a:alpha val="5000"/>
              </a:srgbClr>
            </a:outerShdw>
          </a:effectLst>
        </p:spPr>
      </p:sp>
      <p:sp>
        <p:nvSpPr>
          <p:cNvPr id="24" name="Shape 20"/>
          <p:cNvSpPr/>
          <p:nvPr/>
        </p:nvSpPr>
        <p:spPr>
          <a:xfrm>
            <a:off x="7315200" y="1508760"/>
            <a:ext cx="502920" cy="502920"/>
          </a:xfrm>
          <a:prstGeom prst="ellipse">
            <a:avLst/>
          </a:prstGeom>
          <a:solidFill>
            <a:srgbClr val="0F3A23"/>
          </a:solidFill>
          <a:ln w="19050">
            <a:solidFill>
              <a:srgbClr val="4CC08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7315200" y="15087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CC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000" dirty="0"/>
          </a:p>
        </p:txBody>
      </p:sp>
      <p:pic>
        <p:nvPicPr>
          <p:cNvPr id="2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60920" y="2103120"/>
            <a:ext cx="457200" cy="457200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6263640" y="2651760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Liveness Detection</a:t>
            </a:r>
            <a:endParaRPr lang="en-US" sz="1300" dirty="0"/>
          </a:p>
        </p:txBody>
      </p:sp>
      <p:sp>
        <p:nvSpPr>
          <p:cNvPr id="28" name="Text 23"/>
          <p:cNvSpPr/>
          <p:nvPr/>
        </p:nvSpPr>
        <p:spPr>
          <a:xfrm>
            <a:off x="6400800" y="2926080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Détection de vivacité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anti-spoofing temps réel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Rejet des photos/vidéos</a:t>
            </a:r>
            <a:endParaRPr lang="en-US" sz="950" dirty="0"/>
          </a:p>
        </p:txBody>
      </p:sp>
      <p:sp>
        <p:nvSpPr>
          <p:cNvPr id="29" name="Shape 24"/>
          <p:cNvSpPr/>
          <p:nvPr/>
        </p:nvSpPr>
        <p:spPr>
          <a:xfrm>
            <a:off x="685800" y="3794760"/>
            <a:ext cx="7772400" cy="548640"/>
          </a:xfrm>
          <a:prstGeom prst="roundRect">
            <a:avLst>
              <a:gd name="adj" fmla="val 13333"/>
            </a:avLst>
          </a:prstGeom>
          <a:solidFill>
            <a:srgbClr val="0F3A23"/>
          </a:solidFill>
          <a:ln w="6350">
            <a:solidFill>
              <a:srgbClr val="4CC080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685800" y="379476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CC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Seuils de confiance :  Conducteur ≥ 0.65  |  Passager ≥ 0.60  |  Temps de traitement &lt; 3 secondes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3A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0" y="365760"/>
            <a:ext cx="4114800" cy="411480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algn="l" indent="0" marL="0">
              <a:buNone/>
            </a:pPr>
            <a:r>
              <a:rPr lang="en-US" sz="22000" b="1" dirty="0">
                <a:solidFill>
                  <a:srgbClr val="163F2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15</a:t>
            </a:r>
            <a:endParaRPr lang="en-US" sz="220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166E3A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411480"/>
            <a:ext cx="292608" cy="32004"/>
          </a:xfrm>
          <a:prstGeom prst="rect">
            <a:avLst/>
          </a:prstGeom>
          <a:solidFill>
            <a:srgbClr val="4CC080"/>
          </a:solidFill>
          <a:ln w="12700">
            <a:solidFill>
              <a:srgbClr val="4CC0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347472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CC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CONCEPTION &amp; MODÉLISATION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955280" y="347472"/>
            <a:ext cx="713232" cy="274320"/>
          </a:xfrm>
          <a:prstGeom prst="roundRect">
            <a:avLst>
              <a:gd name="adj" fmla="val 50000"/>
            </a:avLst>
          </a:prstGeom>
          <a:solidFill>
            <a:srgbClr val="0A1F14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0" y="347472"/>
            <a:ext cx="7132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CC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15/31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645920" y="1463040"/>
            <a:ext cx="1828800" cy="1828800"/>
          </a:xfrm>
          <a:prstGeom prst="ellipse">
            <a:avLst/>
          </a:prstGeom>
          <a:solidFill>
            <a:srgbClr val="4CC080"/>
          </a:solidFill>
          <a:ln w="12700">
            <a:solidFill>
              <a:srgbClr val="4CC080"/>
            </a:solidFill>
            <a:prstDash val="solid"/>
          </a:ln>
          <a:effectLst>
            <a:outerShdw sx="100000" sy="100000" kx="0" ky="0" algn="bl" rotWithShape="0" blurRad="152400" dist="38100" dir="10800000">
              <a:srgbClr val="000000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645920" y="146304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0A1F1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7200" dirty="0"/>
          </a:p>
        </p:txBody>
      </p:sp>
      <p:sp>
        <p:nvSpPr>
          <p:cNvPr id="10" name="Text 8"/>
          <p:cNvSpPr/>
          <p:nvPr/>
        </p:nvSpPr>
        <p:spPr>
          <a:xfrm>
            <a:off x="3840480" y="1645920"/>
            <a:ext cx="4846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Conception &amp; Modélisation</a:t>
            </a:r>
            <a:endParaRPr lang="en-US" sz="3200" dirty="0"/>
          </a:p>
        </p:txBody>
      </p:sp>
      <p:sp>
        <p:nvSpPr>
          <p:cNvPr id="11" name="Shape 9"/>
          <p:cNvSpPr/>
          <p:nvPr/>
        </p:nvSpPr>
        <p:spPr>
          <a:xfrm>
            <a:off x="3840480" y="2743200"/>
            <a:ext cx="2743200" cy="36576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0" y="297180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Quels sont les modèles UML ?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0" y="365760"/>
            <a:ext cx="4114800" cy="411480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algn="l" indent="0" marL="0">
              <a:buNone/>
            </a:pPr>
            <a:r>
              <a:rPr lang="en-US" sz="22000" b="1" dirty="0">
                <a:solidFill>
                  <a:srgbClr val="ECEA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16</a:t>
            </a:r>
            <a:endParaRPr lang="en-US" sz="220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166E3A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411480"/>
            <a:ext cx="292608" cy="32004"/>
          </a:xfrm>
          <a:prstGeom prst="rect">
            <a:avLst/>
          </a:prstGeom>
          <a:solidFill>
            <a:srgbClr val="4CC080"/>
          </a:solidFill>
          <a:ln w="12700">
            <a:solidFill>
              <a:srgbClr val="4CC0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347472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66E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CONCEPTION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955280" y="347472"/>
            <a:ext cx="713232" cy="274320"/>
          </a:xfrm>
          <a:prstGeom prst="roundRect">
            <a:avLst>
              <a:gd name="adj" fmla="val 50000"/>
            </a:avLst>
          </a:prstGeom>
          <a:solidFill>
            <a:srgbClr val="0F3A23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0" y="347472"/>
            <a:ext cx="7132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CC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16/31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6858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 d'Utilisation Global</a:t>
            </a:r>
            <a:endParaRPr lang="en-US" sz="30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256032" cy="25603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850392" y="1298448"/>
            <a:ext cx="10058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Passager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850392" y="1463040"/>
            <a:ext cx="10058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Recherche, réserve, évalue</a:t>
            </a:r>
            <a:endParaRPr lang="en-US" sz="75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5960" y="1325880"/>
            <a:ext cx="256032" cy="25603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2267712" y="1298448"/>
            <a:ext cx="10058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Conducteur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2267712" y="1463040"/>
            <a:ext cx="10058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Publie, gère, KYC</a:t>
            </a:r>
            <a:endParaRPr lang="en-US" sz="75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3280" y="1325880"/>
            <a:ext cx="256032" cy="25603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3685032" y="1298448"/>
            <a:ext cx="10058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950" dirty="0"/>
          </a:p>
        </p:txBody>
      </p:sp>
      <p:sp>
        <p:nvSpPr>
          <p:cNvPr id="17" name="Text 12"/>
          <p:cNvSpPr/>
          <p:nvPr/>
        </p:nvSpPr>
        <p:spPr>
          <a:xfrm>
            <a:off x="3685032" y="1463040"/>
            <a:ext cx="10058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Vérifie, modère, analytics</a:t>
            </a:r>
            <a:endParaRPr lang="en-US" sz="750" dirty="0"/>
          </a:p>
        </p:txBody>
      </p:sp>
      <p:pic>
        <p:nvPicPr>
          <p:cNvPr id="18" name="Image 3" descr="/Users/mohamed/Downloads/RohWinBghit_LaTeX_Complet/figures/fig_use_case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57200" y="1737360"/>
            <a:ext cx="8229600" cy="301752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0" y="365760"/>
            <a:ext cx="4114800" cy="411480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algn="l" indent="0" marL="0">
              <a:buNone/>
            </a:pPr>
            <a:r>
              <a:rPr lang="en-US" sz="22000" b="1" dirty="0">
                <a:solidFill>
                  <a:srgbClr val="ECEA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17</a:t>
            </a:r>
            <a:endParaRPr lang="en-US" sz="220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166E3A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411480"/>
            <a:ext cx="292608" cy="32004"/>
          </a:xfrm>
          <a:prstGeom prst="rect">
            <a:avLst/>
          </a:prstGeom>
          <a:solidFill>
            <a:srgbClr val="4CC080"/>
          </a:solidFill>
          <a:ln w="12700">
            <a:solidFill>
              <a:srgbClr val="4CC0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347472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66E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CONCEPTION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955280" y="347472"/>
            <a:ext cx="713232" cy="274320"/>
          </a:xfrm>
          <a:prstGeom prst="roundRect">
            <a:avLst>
              <a:gd name="adj" fmla="val 50000"/>
            </a:avLst>
          </a:prstGeom>
          <a:solidFill>
            <a:srgbClr val="0F3A23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0" y="347472"/>
            <a:ext cx="7132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CC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17/31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6858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Schéma Relationnel de Données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457200" y="12344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166E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  •  Trip  •  Booking  •  Identity  •  Payment  •  Vehicle  •  Review</a:t>
            </a:r>
            <a:endParaRPr lang="en-US" sz="1100" dirty="0"/>
          </a:p>
        </p:txBody>
      </p:sp>
      <p:pic>
        <p:nvPicPr>
          <p:cNvPr id="10" name="Image 0" descr="/Users/mohamed/Downloads/RohWinBghit_LaTeX_Complet/figures/fig_class_diagram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554480"/>
            <a:ext cx="822960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0" y="365760"/>
            <a:ext cx="4114800" cy="411480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algn="l" indent="0" marL="0">
              <a:buNone/>
            </a:pPr>
            <a:r>
              <a:rPr lang="en-US" sz="22000" b="1" dirty="0">
                <a:solidFill>
                  <a:srgbClr val="ECEA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18</a:t>
            </a:r>
            <a:endParaRPr lang="en-US" sz="220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166E3A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411480"/>
            <a:ext cx="292608" cy="32004"/>
          </a:xfrm>
          <a:prstGeom prst="rect">
            <a:avLst/>
          </a:prstGeom>
          <a:solidFill>
            <a:srgbClr val="4CC080"/>
          </a:solidFill>
          <a:ln w="12700">
            <a:solidFill>
              <a:srgbClr val="4CC0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347472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66E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CONCEPTION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955280" y="347472"/>
            <a:ext cx="713232" cy="274320"/>
          </a:xfrm>
          <a:prstGeom prst="roundRect">
            <a:avLst>
              <a:gd name="adj" fmla="val 50000"/>
            </a:avLst>
          </a:prstGeom>
          <a:solidFill>
            <a:srgbClr val="0F3A23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0" y="347472"/>
            <a:ext cx="7132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CC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18/31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6858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Topologie du Déploiement Cloud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457200" y="12344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166E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• Nginx Reverse Proxy • PostgreSQL • Redis • FastAPI • Node.js</a:t>
            </a:r>
            <a:endParaRPr lang="en-US" sz="1000" dirty="0"/>
          </a:p>
        </p:txBody>
      </p:sp>
      <p:pic>
        <p:nvPicPr>
          <p:cNvPr id="10" name="Image 0" descr="/Users/mohamed/Downloads/RohWinBghit_LaTeX_Complet/figures/fig_deployment2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554480"/>
            <a:ext cx="822960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3A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0" y="365760"/>
            <a:ext cx="4114800" cy="411480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algn="l" indent="0" marL="0">
              <a:buNone/>
            </a:pPr>
            <a:r>
              <a:rPr lang="en-US" sz="22000" b="1" dirty="0">
                <a:solidFill>
                  <a:srgbClr val="163F2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19</a:t>
            </a:r>
            <a:endParaRPr lang="en-US" sz="220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166E3A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411480"/>
            <a:ext cx="292608" cy="32004"/>
          </a:xfrm>
          <a:prstGeom prst="rect">
            <a:avLst/>
          </a:prstGeom>
          <a:solidFill>
            <a:srgbClr val="4CC080"/>
          </a:solidFill>
          <a:ln w="12700">
            <a:solidFill>
              <a:srgbClr val="4CC0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347472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CC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RÉSULTATS &amp; VALIDATION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955280" y="347472"/>
            <a:ext cx="713232" cy="274320"/>
          </a:xfrm>
          <a:prstGeom prst="roundRect">
            <a:avLst>
              <a:gd name="adj" fmla="val 50000"/>
            </a:avLst>
          </a:prstGeom>
          <a:solidFill>
            <a:srgbClr val="0A1F14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0" y="347472"/>
            <a:ext cx="7132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CC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19/31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645920" y="1463040"/>
            <a:ext cx="1828800" cy="1828800"/>
          </a:xfrm>
          <a:prstGeom prst="ellipse">
            <a:avLst/>
          </a:prstGeom>
          <a:solidFill>
            <a:srgbClr val="4CC080"/>
          </a:solidFill>
          <a:ln w="12700">
            <a:solidFill>
              <a:srgbClr val="4CC080"/>
            </a:solidFill>
            <a:prstDash val="solid"/>
          </a:ln>
          <a:effectLst>
            <a:outerShdw sx="100000" sy="100000" kx="0" ky="0" algn="bl" rotWithShape="0" blurRad="152400" dist="38100" dir="10800000">
              <a:srgbClr val="000000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645920" y="146304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0A1F1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7200" dirty="0"/>
          </a:p>
        </p:txBody>
      </p:sp>
      <p:sp>
        <p:nvSpPr>
          <p:cNvPr id="10" name="Text 8"/>
          <p:cNvSpPr/>
          <p:nvPr/>
        </p:nvSpPr>
        <p:spPr>
          <a:xfrm>
            <a:off x="3840480" y="1645920"/>
            <a:ext cx="4846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Résultats &amp; Validation</a:t>
            </a:r>
            <a:endParaRPr lang="en-US" sz="3200" dirty="0"/>
          </a:p>
        </p:txBody>
      </p:sp>
      <p:sp>
        <p:nvSpPr>
          <p:cNvPr id="11" name="Shape 9"/>
          <p:cNvSpPr/>
          <p:nvPr/>
        </p:nvSpPr>
        <p:spPr>
          <a:xfrm>
            <a:off x="3840480" y="2743200"/>
            <a:ext cx="2743200" cy="36576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0" y="297180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Qu'avons-nous obtenu ?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0" y="365760"/>
            <a:ext cx="4114800" cy="411480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algn="l" indent="0" marL="0">
              <a:buNone/>
            </a:pPr>
            <a:r>
              <a:rPr lang="en-US" sz="22000" b="1" dirty="0">
                <a:solidFill>
                  <a:srgbClr val="ECEA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20</a:t>
            </a:r>
            <a:endParaRPr lang="en-US" sz="220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166E3A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411480"/>
            <a:ext cx="292608" cy="32004"/>
          </a:xfrm>
          <a:prstGeom prst="rect">
            <a:avLst/>
          </a:prstGeom>
          <a:solidFill>
            <a:srgbClr val="4CC080"/>
          </a:solidFill>
          <a:ln w="12700">
            <a:solidFill>
              <a:srgbClr val="4CC0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347472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66E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RÉSULTATS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955280" y="347472"/>
            <a:ext cx="713232" cy="274320"/>
          </a:xfrm>
          <a:prstGeom prst="roundRect">
            <a:avLst>
              <a:gd name="adj" fmla="val 50000"/>
            </a:avLst>
          </a:prstGeom>
          <a:solidFill>
            <a:srgbClr val="0F3A23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0" y="347472"/>
            <a:ext cx="7132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CC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20/31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6858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97.4% de Réussite aux Tests Automatisés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685800" y="1371600"/>
            <a:ext cx="3200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66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147/151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685800" y="205740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réussis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389120" y="141732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Unitaires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389120" y="1691640"/>
            <a:ext cx="4114800" cy="320040"/>
          </a:xfrm>
          <a:prstGeom prst="roundRect">
            <a:avLst>
              <a:gd name="adj" fmla="val 14286"/>
            </a:avLst>
          </a:prstGeom>
          <a:solidFill>
            <a:srgbClr val="E8F5E9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389120" y="1691640"/>
            <a:ext cx="4114800" cy="320040"/>
          </a:xfrm>
          <a:prstGeom prst="roundRect">
            <a:avLst>
              <a:gd name="adj" fmla="val 14286"/>
            </a:avLst>
          </a:prstGeom>
          <a:solidFill>
            <a:srgbClr val="166E3A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89120" y="169164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107 / 107  (100%)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389120" y="219456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d'Intégration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389120" y="2468880"/>
            <a:ext cx="4114800" cy="320040"/>
          </a:xfrm>
          <a:prstGeom prst="roundRect">
            <a:avLst>
              <a:gd name="adj" fmla="val 14286"/>
            </a:avLst>
          </a:prstGeom>
          <a:solidFill>
            <a:srgbClr val="E8F5E9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389120" y="2468880"/>
            <a:ext cx="3740727" cy="320040"/>
          </a:xfrm>
          <a:prstGeom prst="roundRect">
            <a:avLst>
              <a:gd name="adj" fmla="val 14286"/>
            </a:avLst>
          </a:prstGeom>
          <a:solidFill>
            <a:srgbClr val="4CC080"/>
          </a:solidFill>
          <a:ln w="12700">
            <a:solidFill>
              <a:srgbClr val="4CC08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89120" y="246888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/ 44  (90.9%)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85800" y="3063240"/>
            <a:ext cx="77724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5800" y="31089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4 échecs : Timeouts réseau sur les tests d'intégration API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914400" y="333756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 timeouts sur les tests de réservation concurrente (race condition en CI)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 timeouts sur les tests de notification push (dépendance réseau externe)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Aucun bug fonctionnel : tous les échecs sont liés à l'environnement CI, non au code.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02920" y="4069080"/>
            <a:ext cx="15544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160520"/>
            <a:ext cx="201168" cy="201168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777240" y="4114800"/>
            <a:ext cx="1234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&amp; Profils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777240" y="4315968"/>
            <a:ext cx="1234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tests</a:t>
            </a:r>
            <a:endParaRPr lang="en-US" sz="800" dirty="0"/>
          </a:p>
        </p:txBody>
      </p:sp>
      <p:sp>
        <p:nvSpPr>
          <p:cNvPr id="26" name="Shape 23"/>
          <p:cNvSpPr/>
          <p:nvPr/>
        </p:nvSpPr>
        <p:spPr>
          <a:xfrm>
            <a:off x="2194560" y="4069080"/>
            <a:ext cx="15544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pic>
        <p:nvPicPr>
          <p:cNvPr id="2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0280" y="4160520"/>
            <a:ext cx="201168" cy="201168"/>
          </a:xfrm>
          <a:prstGeom prst="rect">
            <a:avLst/>
          </a:prstGeom>
        </p:spPr>
      </p:pic>
      <p:sp>
        <p:nvSpPr>
          <p:cNvPr id="28" name="Text 24"/>
          <p:cNvSpPr/>
          <p:nvPr/>
        </p:nvSpPr>
        <p:spPr>
          <a:xfrm>
            <a:off x="2468880" y="4114800"/>
            <a:ext cx="1234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Trajets &amp; Réservation</a:t>
            </a:r>
            <a:endParaRPr lang="en-US" sz="850" dirty="0"/>
          </a:p>
        </p:txBody>
      </p:sp>
      <p:sp>
        <p:nvSpPr>
          <p:cNvPr id="29" name="Text 25"/>
          <p:cNvSpPr/>
          <p:nvPr/>
        </p:nvSpPr>
        <p:spPr>
          <a:xfrm>
            <a:off x="2468880" y="4315968"/>
            <a:ext cx="1234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tests</a:t>
            </a:r>
            <a:endParaRPr lang="en-US" sz="800" dirty="0"/>
          </a:p>
        </p:txBody>
      </p:sp>
      <p:sp>
        <p:nvSpPr>
          <p:cNvPr id="30" name="Shape 26"/>
          <p:cNvSpPr/>
          <p:nvPr/>
        </p:nvSpPr>
        <p:spPr>
          <a:xfrm>
            <a:off x="3886200" y="4069080"/>
            <a:ext cx="15544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pic>
        <p:nvPicPr>
          <p:cNvPr id="3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1920" y="4160520"/>
            <a:ext cx="201168" cy="201168"/>
          </a:xfrm>
          <a:prstGeom prst="rect">
            <a:avLst/>
          </a:prstGeom>
        </p:spPr>
      </p:pic>
      <p:sp>
        <p:nvSpPr>
          <p:cNvPr id="32" name="Text 27"/>
          <p:cNvSpPr/>
          <p:nvPr/>
        </p:nvSpPr>
        <p:spPr>
          <a:xfrm>
            <a:off x="4160520" y="4114800"/>
            <a:ext cx="1234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KYC</a:t>
            </a:r>
            <a:endParaRPr lang="en-US" sz="850" dirty="0"/>
          </a:p>
        </p:txBody>
      </p:sp>
      <p:sp>
        <p:nvSpPr>
          <p:cNvPr id="33" name="Text 28"/>
          <p:cNvSpPr/>
          <p:nvPr/>
        </p:nvSpPr>
        <p:spPr>
          <a:xfrm>
            <a:off x="4160520" y="4315968"/>
            <a:ext cx="1234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tests</a:t>
            </a:r>
            <a:endParaRPr lang="en-US" sz="800" dirty="0"/>
          </a:p>
        </p:txBody>
      </p:sp>
      <p:sp>
        <p:nvSpPr>
          <p:cNvPr id="34" name="Shape 29"/>
          <p:cNvSpPr/>
          <p:nvPr/>
        </p:nvSpPr>
        <p:spPr>
          <a:xfrm>
            <a:off x="5577840" y="4069080"/>
            <a:ext cx="15544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pic>
        <p:nvPicPr>
          <p:cNvPr id="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3560" y="4160520"/>
            <a:ext cx="201168" cy="201168"/>
          </a:xfrm>
          <a:prstGeom prst="rect">
            <a:avLst/>
          </a:prstGeom>
        </p:spPr>
      </p:pic>
      <p:sp>
        <p:nvSpPr>
          <p:cNvPr id="36" name="Text 30"/>
          <p:cNvSpPr/>
          <p:nvPr/>
        </p:nvSpPr>
        <p:spPr>
          <a:xfrm>
            <a:off x="5852160" y="4114800"/>
            <a:ext cx="1234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Paiement</a:t>
            </a:r>
            <a:endParaRPr lang="en-US" sz="850" dirty="0"/>
          </a:p>
        </p:txBody>
      </p:sp>
      <p:sp>
        <p:nvSpPr>
          <p:cNvPr id="37" name="Text 31"/>
          <p:cNvSpPr/>
          <p:nvPr/>
        </p:nvSpPr>
        <p:spPr>
          <a:xfrm>
            <a:off x="5852160" y="4315968"/>
            <a:ext cx="1234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tests</a:t>
            </a:r>
            <a:endParaRPr lang="en-US" sz="800" dirty="0"/>
          </a:p>
        </p:txBody>
      </p:sp>
      <p:sp>
        <p:nvSpPr>
          <p:cNvPr id="38" name="Shape 32"/>
          <p:cNvSpPr/>
          <p:nvPr/>
        </p:nvSpPr>
        <p:spPr>
          <a:xfrm>
            <a:off x="7269480" y="4069080"/>
            <a:ext cx="15544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pic>
        <p:nvPicPr>
          <p:cNvPr id="3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0" y="4160520"/>
            <a:ext cx="201168" cy="201168"/>
          </a:xfrm>
          <a:prstGeom prst="rect">
            <a:avLst/>
          </a:prstGeom>
        </p:spPr>
      </p:pic>
      <p:sp>
        <p:nvSpPr>
          <p:cNvPr id="40" name="Text 33"/>
          <p:cNvSpPr/>
          <p:nvPr/>
        </p:nvSpPr>
        <p:spPr>
          <a:xfrm>
            <a:off x="7543800" y="4114800"/>
            <a:ext cx="1234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850" dirty="0"/>
          </a:p>
        </p:txBody>
      </p:sp>
      <p:sp>
        <p:nvSpPr>
          <p:cNvPr id="41" name="Text 34"/>
          <p:cNvSpPr/>
          <p:nvPr/>
        </p:nvSpPr>
        <p:spPr>
          <a:xfrm>
            <a:off x="7543800" y="4315968"/>
            <a:ext cx="1234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 tests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0" y="365760"/>
            <a:ext cx="4114800" cy="411480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algn="l" indent="0" marL="0">
              <a:buNone/>
            </a:pPr>
            <a:r>
              <a:rPr lang="en-US" sz="22000" b="1" dirty="0">
                <a:solidFill>
                  <a:srgbClr val="ECEA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21</a:t>
            </a:r>
            <a:endParaRPr lang="en-US" sz="220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166E3A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411480"/>
            <a:ext cx="292608" cy="32004"/>
          </a:xfrm>
          <a:prstGeom prst="rect">
            <a:avLst/>
          </a:prstGeom>
          <a:solidFill>
            <a:srgbClr val="4CC080"/>
          </a:solidFill>
          <a:ln w="12700">
            <a:solidFill>
              <a:srgbClr val="4CC0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347472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66E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RÉSULTATS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955280" y="347472"/>
            <a:ext cx="713232" cy="274320"/>
          </a:xfrm>
          <a:prstGeom prst="roundRect">
            <a:avLst>
              <a:gd name="adj" fmla="val 50000"/>
            </a:avLst>
          </a:prstGeom>
          <a:solidFill>
            <a:srgbClr val="0F3A23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0" y="347472"/>
            <a:ext cx="7132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CC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21/31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6858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SUS de 71.6 : Usabilité Validée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685800" y="1371600"/>
            <a:ext cx="320040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  <a:effectLst>
            <a:outerShdw sx="100000" sy="100000" kx="0" ky="0" algn="bl" rotWithShape="0" blurRad="101600" dist="25400" dir="8100000">
              <a:srgbClr val="0A1F14">
                <a:alpha val="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280160" y="1554480"/>
            <a:ext cx="1554480" cy="1554480"/>
          </a:xfrm>
          <a:prstGeom prst="ellipse">
            <a:avLst/>
          </a:prstGeom>
          <a:solidFill>
            <a:srgbClr val="E8F5E9"/>
          </a:solidFill>
          <a:ln w="38100">
            <a:solidFill>
              <a:srgbClr val="166E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80160" y="1554480"/>
            <a:ext cx="1554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66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71.6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1280160" y="242316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100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1691640" y="3246120"/>
            <a:ext cx="731520" cy="201168"/>
          </a:xfrm>
          <a:prstGeom prst="roundRect">
            <a:avLst>
              <a:gd name="adj" fmla="val 50000"/>
            </a:avLst>
          </a:prstGeom>
          <a:solidFill>
            <a:srgbClr val="166E3A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691640" y="3246120"/>
            <a:ext cx="731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4206240" y="14173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Résultats par profil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206240" y="1783080"/>
            <a:ext cx="2286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Passagers (N=10)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206240" y="2011680"/>
            <a:ext cx="4114800" cy="274320"/>
          </a:xfrm>
          <a:prstGeom prst="roundRect">
            <a:avLst>
              <a:gd name="adj" fmla="val 16667"/>
            </a:avLst>
          </a:prstGeom>
          <a:solidFill>
            <a:srgbClr val="E8F5E9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206240" y="2011680"/>
            <a:ext cx="3053182" cy="274320"/>
          </a:xfrm>
          <a:prstGeom prst="roundRect">
            <a:avLst>
              <a:gd name="adj" fmla="val 16667"/>
            </a:avLst>
          </a:prstGeom>
          <a:solidFill>
            <a:srgbClr val="166E3A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206240" y="2011680"/>
            <a:ext cx="305318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74.2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206240" y="2423160"/>
            <a:ext cx="2286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Conducteurs (N=8)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206240" y="2651760"/>
            <a:ext cx="4114800" cy="274320"/>
          </a:xfrm>
          <a:prstGeom prst="roundRect">
            <a:avLst>
              <a:gd name="adj" fmla="val 16667"/>
            </a:avLst>
          </a:prstGeom>
          <a:solidFill>
            <a:srgbClr val="E8F5E9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206240" y="2651760"/>
            <a:ext cx="2835097" cy="274320"/>
          </a:xfrm>
          <a:prstGeom prst="roundRect">
            <a:avLst>
              <a:gd name="adj" fmla="val 16667"/>
            </a:avLst>
          </a:prstGeom>
          <a:solidFill>
            <a:srgbClr val="4CC080"/>
          </a:solidFill>
          <a:ln w="12700">
            <a:solidFill>
              <a:srgbClr val="4CC08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206240" y="2651760"/>
            <a:ext cx="283509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68.9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06240" y="3108960"/>
            <a:ext cx="411480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206240" y="310896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Échelle SUS : 0-50 Poor | 50-68 OK | 68-80 Good | 80+ Excellent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85800" y="3886200"/>
            <a:ext cx="7772400" cy="548640"/>
          </a:xfrm>
          <a:prstGeom prst="roundRect">
            <a:avLst>
              <a:gd name="adj" fmla="val 13333"/>
            </a:avLst>
          </a:prstGeom>
          <a:solidFill>
            <a:srgbClr val="E8F5E9"/>
          </a:solidFill>
          <a:ln w="6350">
            <a:solidFill>
              <a:srgbClr val="166E3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85800" y="388620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6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Écart Passager/Conducteur (5.3 pts) : le flux KYC conducteur est plus complexe — priorité UX pour v2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0" y="365760"/>
            <a:ext cx="4114800" cy="411480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algn="l" indent="0" marL="0">
              <a:buNone/>
            </a:pPr>
            <a:r>
              <a:rPr lang="en-US" sz="22000" b="1" dirty="0">
                <a:solidFill>
                  <a:srgbClr val="ECEA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22</a:t>
            </a:r>
            <a:endParaRPr lang="en-US" sz="220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166E3A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411480"/>
            <a:ext cx="292608" cy="32004"/>
          </a:xfrm>
          <a:prstGeom prst="rect">
            <a:avLst/>
          </a:prstGeom>
          <a:solidFill>
            <a:srgbClr val="4CC080"/>
          </a:solidFill>
          <a:ln w="12700">
            <a:solidFill>
              <a:srgbClr val="4CC0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347472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66E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RÉSULTATS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955280" y="347472"/>
            <a:ext cx="713232" cy="274320"/>
          </a:xfrm>
          <a:prstGeom prst="roundRect">
            <a:avLst>
              <a:gd name="adj" fmla="val 50000"/>
            </a:avLst>
          </a:prstGeom>
          <a:solidFill>
            <a:srgbClr val="0F3A23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0" y="347472"/>
            <a:ext cx="7132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CC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22/31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6858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des Trois Hypothèses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685800" y="1371600"/>
            <a:ext cx="1943100" cy="365760"/>
          </a:xfrm>
          <a:prstGeom prst="rect">
            <a:avLst/>
          </a:prstGeom>
          <a:solidFill>
            <a:srgbClr val="0F3A23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1371600"/>
            <a:ext cx="19431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Hypothèse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628900" y="1371600"/>
            <a:ext cx="1943100" cy="365760"/>
          </a:xfrm>
          <a:prstGeom prst="rect">
            <a:avLst/>
          </a:prstGeom>
          <a:solidFill>
            <a:srgbClr val="0F3A23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628900" y="1371600"/>
            <a:ext cx="19431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Critère de Validation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0" y="1371600"/>
            <a:ext cx="1943100" cy="365760"/>
          </a:xfrm>
          <a:prstGeom prst="rect">
            <a:avLst/>
          </a:prstGeom>
          <a:solidFill>
            <a:srgbClr val="0F3A23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0" y="1371600"/>
            <a:ext cx="19431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Résultat Empirique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515100" y="1371600"/>
            <a:ext cx="1943100" cy="365760"/>
          </a:xfrm>
          <a:prstGeom prst="rect">
            <a:avLst/>
          </a:prstGeom>
          <a:solidFill>
            <a:srgbClr val="0F3A23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15100" y="1371600"/>
            <a:ext cx="19431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Statut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85800" y="1737360"/>
            <a:ext cx="777240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" y="1828800"/>
            <a:ext cx="411480" cy="411480"/>
          </a:xfrm>
          <a:prstGeom prst="roundRect">
            <a:avLst>
              <a:gd name="adj" fmla="val 13333"/>
            </a:avLst>
          </a:prstGeom>
          <a:solidFill>
            <a:srgbClr val="0F3A23"/>
          </a:solidFill>
          <a:ln w="12700">
            <a:solidFill>
              <a:srgbClr val="0F3A2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182880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CC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H1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325880" y="1828800"/>
            <a:ext cx="1051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KYC Biométrique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628900" y="1783080"/>
            <a:ext cx="2240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Seuil ≥ 0.65 (conducteur), ≥ 0.60 (passager)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869180" y="178308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Conducteur : 0.72  |  Passager : 0.68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7086600" y="1938528"/>
            <a:ext cx="1188720" cy="201168"/>
          </a:xfrm>
          <a:prstGeom prst="roundRect">
            <a:avLst>
              <a:gd name="adj" fmla="val 50000"/>
            </a:avLst>
          </a:prstGeom>
          <a:solidFill>
            <a:srgbClr val="166E3A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086600" y="1938528"/>
            <a:ext cx="1188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VALIDÉE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685800" y="2423160"/>
            <a:ext cx="7772400" cy="640080"/>
          </a:xfrm>
          <a:prstGeom prst="rect">
            <a:avLst/>
          </a:prstGeom>
          <a:solidFill>
            <a:srgbClr val="E8F5E9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22960" y="2514600"/>
            <a:ext cx="411480" cy="411480"/>
          </a:xfrm>
          <a:prstGeom prst="roundRect">
            <a:avLst>
              <a:gd name="adj" fmla="val 13333"/>
            </a:avLst>
          </a:prstGeom>
          <a:solidFill>
            <a:srgbClr val="0F3A23"/>
          </a:solidFill>
          <a:ln w="12700">
            <a:solidFill>
              <a:srgbClr val="0F3A2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22960" y="251460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CC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H2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325880" y="2514600"/>
            <a:ext cx="1051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Usabilité SUS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2628900" y="2468880"/>
            <a:ext cx="2240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SUS ≥ 68/100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4869180" y="246888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global : 71.6/100 (Good)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7086600" y="2624328"/>
            <a:ext cx="1188720" cy="201168"/>
          </a:xfrm>
          <a:prstGeom prst="roundRect">
            <a:avLst>
              <a:gd name="adj" fmla="val 50000"/>
            </a:avLst>
          </a:prstGeom>
          <a:solidFill>
            <a:srgbClr val="166E3A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086600" y="2624328"/>
            <a:ext cx="1188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VALIDÉE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685800" y="3108960"/>
            <a:ext cx="777240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2960" y="3200400"/>
            <a:ext cx="411480" cy="411480"/>
          </a:xfrm>
          <a:prstGeom prst="roundRect">
            <a:avLst>
              <a:gd name="adj" fmla="val 13333"/>
            </a:avLst>
          </a:prstGeom>
          <a:solidFill>
            <a:srgbClr val="0F3A23"/>
          </a:solidFill>
          <a:ln w="12700">
            <a:solidFill>
              <a:srgbClr val="0F3A2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22960" y="320040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CC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H3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1325880" y="3200400"/>
            <a:ext cx="1051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Résilience API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2628900" y="3154680"/>
            <a:ext cx="2240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Disponibilité ≥ 99%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4869180" y="315468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97.4% tests Jest + circuit breaker actif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7086600" y="3310128"/>
            <a:ext cx="1188720" cy="201168"/>
          </a:xfrm>
          <a:prstGeom prst="roundRect">
            <a:avLst>
              <a:gd name="adj" fmla="val 50000"/>
            </a:avLst>
          </a:prstGeom>
          <a:solidFill>
            <a:srgbClr val="E8A838"/>
          </a:solidFill>
          <a:ln w="12700">
            <a:solidFill>
              <a:srgbClr val="E8A83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86600" y="3310128"/>
            <a:ext cx="1188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PARTIELLE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685800" y="3886200"/>
            <a:ext cx="7772400" cy="594360"/>
          </a:xfrm>
          <a:prstGeom prst="roundRect">
            <a:avLst>
              <a:gd name="adj" fmla="val 12308"/>
            </a:avLst>
          </a:prstGeom>
          <a:solidFill>
            <a:srgbClr val="0F3A23"/>
          </a:solidFill>
          <a:ln w="6350">
            <a:solidFill>
              <a:srgbClr val="4CC08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85800" y="3886200"/>
            <a:ext cx="7772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CC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&amp; H2 pleinement validées  •  H3 partiellement validée (environnement sandbox)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4CC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Validation complète requiert un déploiement en production avec monitoring APM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F3A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0" y="365760"/>
            <a:ext cx="4114800" cy="411480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algn="l" indent="0" marL="0">
              <a:buNone/>
            </a:pPr>
            <a:r>
              <a:rPr lang="en-US" sz="22000" b="1" dirty="0">
                <a:solidFill>
                  <a:srgbClr val="163F2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23</a:t>
            </a:r>
            <a:endParaRPr lang="en-US" sz="220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166E3A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411480"/>
            <a:ext cx="292608" cy="32004"/>
          </a:xfrm>
          <a:prstGeom prst="rect">
            <a:avLst/>
          </a:prstGeom>
          <a:solidFill>
            <a:srgbClr val="4CC080"/>
          </a:solidFill>
          <a:ln w="12700">
            <a:solidFill>
              <a:srgbClr val="4CC0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347472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CC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DÉMONSTRATION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955280" y="347472"/>
            <a:ext cx="713232" cy="274320"/>
          </a:xfrm>
          <a:prstGeom prst="roundRect">
            <a:avLst>
              <a:gd name="adj" fmla="val 50000"/>
            </a:avLst>
          </a:prstGeom>
          <a:solidFill>
            <a:srgbClr val="0A1F14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0" y="347472"/>
            <a:ext cx="7132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CC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23/31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6858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Démonstration du Prototype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371600"/>
            <a:ext cx="1920240" cy="2926080"/>
          </a:xfrm>
          <a:prstGeom prst="roundRect">
            <a:avLst>
              <a:gd name="adj" fmla="val 7143"/>
            </a:avLst>
          </a:prstGeom>
          <a:solidFill>
            <a:srgbClr val="0A1F14"/>
          </a:solidFill>
          <a:ln w="12700">
            <a:solidFill>
              <a:srgbClr val="166E3A"/>
            </a:solidFill>
            <a:prstDash val="solid"/>
          </a:ln>
        </p:spPr>
      </p:sp>
      <p:pic>
        <p:nvPicPr>
          <p:cNvPr id="10" name="Image 0" descr="/Users/mohamed/Downloads/RohWinBghit_LaTeX_Complet/figures/v2_welcome_splash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76072" y="1463040"/>
            <a:ext cx="1773936" cy="2606040"/>
          </a:xfrm>
          <a:prstGeom prst="ellipse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02920" y="4343400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CC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Accueil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2651760" y="1371600"/>
            <a:ext cx="1920240" cy="2926080"/>
          </a:xfrm>
          <a:prstGeom prst="roundRect">
            <a:avLst>
              <a:gd name="adj" fmla="val 7143"/>
            </a:avLst>
          </a:prstGeom>
          <a:solidFill>
            <a:srgbClr val="0A1F14"/>
          </a:solidFill>
          <a:ln w="12700">
            <a:solidFill>
              <a:srgbClr val="166E3A"/>
            </a:solidFill>
            <a:prstDash val="solid"/>
          </a:ln>
        </p:spPr>
      </p:sp>
      <p:pic>
        <p:nvPicPr>
          <p:cNvPr id="13" name="Image 1" descr="/Users/mohamed/Downloads/RohWinBghit_LaTeX_Complet/figures/v2_role_selection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724912" y="1463040"/>
            <a:ext cx="1773936" cy="2606040"/>
          </a:xfrm>
          <a:prstGeom prst="ellipse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2651760" y="4343400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CC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Inscription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4800600" y="1371600"/>
            <a:ext cx="1920240" cy="2926080"/>
          </a:xfrm>
          <a:prstGeom prst="roundRect">
            <a:avLst>
              <a:gd name="adj" fmla="val 7143"/>
            </a:avLst>
          </a:prstGeom>
          <a:solidFill>
            <a:srgbClr val="0A1F14"/>
          </a:solidFill>
          <a:ln w="12700">
            <a:solidFill>
              <a:srgbClr val="166E3A"/>
            </a:solidFill>
            <a:prstDash val="solid"/>
          </a:ln>
        </p:spPr>
      </p:sp>
      <p:pic>
        <p:nvPicPr>
          <p:cNvPr id="16" name="Image 2" descr="/Users/mohamed/Downloads/RohWinBghit_LaTeX_Complet/figures/v2_search_results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873752" y="1463040"/>
            <a:ext cx="1773936" cy="2606040"/>
          </a:xfrm>
          <a:prstGeom prst="ellipse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4800600" y="4343400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CC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Réservation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6949440" y="1371600"/>
            <a:ext cx="1920240" cy="2926080"/>
          </a:xfrm>
          <a:prstGeom prst="roundRect">
            <a:avLst>
              <a:gd name="adj" fmla="val 7143"/>
            </a:avLst>
          </a:prstGeom>
          <a:solidFill>
            <a:srgbClr val="0A1F14"/>
          </a:solidFill>
          <a:ln w="12700">
            <a:solidFill>
              <a:srgbClr val="166E3A"/>
            </a:solidFill>
            <a:prstDash val="solid"/>
          </a:ln>
        </p:spPr>
      </p:sp>
      <p:pic>
        <p:nvPicPr>
          <p:cNvPr id="19" name="Image 3" descr="/Users/mohamed/Downloads/RohWinBghit_LaTeX_Complet/Screen_mobile/QR scanné au départ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7022592" y="1463040"/>
            <a:ext cx="1773936" cy="2606040"/>
          </a:xfrm>
          <a:prstGeom prst="ellipse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6949440" y="4343400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CC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Code Départ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2377440" y="25603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2" name="Text 16"/>
          <p:cNvSpPr/>
          <p:nvPr/>
        </p:nvSpPr>
        <p:spPr>
          <a:xfrm>
            <a:off x="4526280" y="25603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3" name="Text 17"/>
          <p:cNvSpPr/>
          <p:nvPr/>
        </p:nvSpPr>
        <p:spPr>
          <a:xfrm>
            <a:off x="6675120" y="25603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4" name="Shape 18"/>
          <p:cNvSpPr/>
          <p:nvPr/>
        </p:nvSpPr>
        <p:spPr>
          <a:xfrm>
            <a:off x="0" y="4681728"/>
            <a:ext cx="9144000" cy="457200"/>
          </a:xfrm>
          <a:prstGeom prst="rect">
            <a:avLst/>
          </a:prstGeom>
          <a:solidFill>
            <a:srgbClr val="4CC080"/>
          </a:solidFill>
          <a:ln w="12700">
            <a:solidFill>
              <a:srgbClr val="4CC080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0" y="4681728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DÉMONSTRATION EN DIRECT  —  Flux Passager Complet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F3A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0" y="365760"/>
            <a:ext cx="4114800" cy="411480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algn="l" indent="0" marL="0">
              <a:buNone/>
            </a:pPr>
            <a:r>
              <a:rPr lang="en-US" sz="22000" b="1" dirty="0">
                <a:solidFill>
                  <a:srgbClr val="163F2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24</a:t>
            </a:r>
            <a:endParaRPr lang="en-US" sz="220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166E3A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411480"/>
            <a:ext cx="292608" cy="32004"/>
          </a:xfrm>
          <a:prstGeom prst="rect">
            <a:avLst/>
          </a:prstGeom>
          <a:solidFill>
            <a:srgbClr val="4CC080"/>
          </a:solidFill>
          <a:ln w="12700">
            <a:solidFill>
              <a:srgbClr val="4CC0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347472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CC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MODÈLE ÉCONOMIQUE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955280" y="347472"/>
            <a:ext cx="713232" cy="274320"/>
          </a:xfrm>
          <a:prstGeom prst="roundRect">
            <a:avLst>
              <a:gd name="adj" fmla="val 50000"/>
            </a:avLst>
          </a:prstGeom>
          <a:solidFill>
            <a:srgbClr val="0A1F14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0" y="347472"/>
            <a:ext cx="7132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CC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24/31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645920" y="1463040"/>
            <a:ext cx="1828800" cy="1828800"/>
          </a:xfrm>
          <a:prstGeom prst="ellipse">
            <a:avLst/>
          </a:prstGeom>
          <a:solidFill>
            <a:srgbClr val="4CC080"/>
          </a:solidFill>
          <a:ln w="12700">
            <a:solidFill>
              <a:srgbClr val="4CC080"/>
            </a:solidFill>
            <a:prstDash val="solid"/>
          </a:ln>
          <a:effectLst>
            <a:outerShdw sx="100000" sy="100000" kx="0" ky="0" algn="bl" rotWithShape="0" blurRad="152400" dist="38100" dir="10800000">
              <a:srgbClr val="000000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645920" y="146304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0A1F1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</a:t>
            </a:r>
            <a:endParaRPr lang="en-US" sz="7200" dirty="0"/>
          </a:p>
        </p:txBody>
      </p:sp>
      <p:sp>
        <p:nvSpPr>
          <p:cNvPr id="10" name="Text 8"/>
          <p:cNvSpPr/>
          <p:nvPr/>
        </p:nvSpPr>
        <p:spPr>
          <a:xfrm>
            <a:off x="3840480" y="1645920"/>
            <a:ext cx="4846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Économique</a:t>
            </a:r>
            <a:endParaRPr lang="en-US" sz="3200" dirty="0"/>
          </a:p>
        </p:txBody>
      </p:sp>
      <p:sp>
        <p:nvSpPr>
          <p:cNvPr id="11" name="Shape 9"/>
          <p:cNvSpPr/>
          <p:nvPr/>
        </p:nvSpPr>
        <p:spPr>
          <a:xfrm>
            <a:off x="3840480" y="2743200"/>
            <a:ext cx="2743200" cy="36576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0" y="297180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rentabiliser le projet ?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0" y="365760"/>
            <a:ext cx="4114800" cy="411480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algn="l" indent="0" marL="0">
              <a:buNone/>
            </a:pPr>
            <a:r>
              <a:rPr lang="en-US" sz="22000" b="1" dirty="0">
                <a:solidFill>
                  <a:srgbClr val="ECEA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25</a:t>
            </a:r>
            <a:endParaRPr lang="en-US" sz="220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166E3A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411480"/>
            <a:ext cx="292608" cy="32004"/>
          </a:xfrm>
          <a:prstGeom prst="rect">
            <a:avLst/>
          </a:prstGeom>
          <a:solidFill>
            <a:srgbClr val="4CC080"/>
          </a:solidFill>
          <a:ln w="12700">
            <a:solidFill>
              <a:srgbClr val="4CC0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347472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66E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MODÈLE ÉCONOMIQUE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955280" y="347472"/>
            <a:ext cx="713232" cy="274320"/>
          </a:xfrm>
          <a:prstGeom prst="roundRect">
            <a:avLst>
              <a:gd name="adj" fmla="val 50000"/>
            </a:avLst>
          </a:prstGeom>
          <a:solidFill>
            <a:srgbClr val="0F3A23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0" y="347472"/>
            <a:ext cx="7132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CC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25/31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6858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Model Canvas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411480" y="1325880"/>
            <a:ext cx="1554480" cy="169164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1325880"/>
            <a:ext cx="1554480" cy="256032"/>
          </a:xfrm>
          <a:prstGeom prst="rect">
            <a:avLst/>
          </a:prstGeom>
          <a:solidFill>
            <a:srgbClr val="0F3A23"/>
          </a:solidFill>
          <a:ln w="12700">
            <a:solidFill>
              <a:srgbClr val="0F3A2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1480" y="1325880"/>
            <a:ext cx="1554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4CC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PARTENAIRES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484632" y="1618488"/>
            <a:ext cx="1408176" cy="1344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SATIM • Télécoms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Universités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011680" y="1325880"/>
            <a:ext cx="1417320" cy="804672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011680" y="1325880"/>
            <a:ext cx="1417320" cy="256032"/>
          </a:xfrm>
          <a:prstGeom prst="rect">
            <a:avLst/>
          </a:prstGeom>
          <a:solidFill>
            <a:srgbClr val="0F3A23"/>
          </a:solidFill>
          <a:ln w="12700">
            <a:solidFill>
              <a:srgbClr val="0F3A2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011680" y="1325880"/>
            <a:ext cx="1417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4CC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ACTIVITÉS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2084832" y="1618488"/>
            <a:ext cx="127101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Matching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KYC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Paiement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2011680" y="2176272"/>
            <a:ext cx="141732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011680" y="2176272"/>
            <a:ext cx="1417320" cy="256032"/>
          </a:xfrm>
          <a:prstGeom prst="rect">
            <a:avLst/>
          </a:prstGeom>
          <a:solidFill>
            <a:srgbClr val="0F3A23"/>
          </a:solidFill>
          <a:ln w="12700">
            <a:solidFill>
              <a:srgbClr val="0F3A2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011680" y="2176272"/>
            <a:ext cx="1417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4CC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RESSOURCES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2084832" y="2468880"/>
            <a:ext cx="1271016" cy="493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devs • VPS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APIs IA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3474720" y="1325880"/>
            <a:ext cx="1737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4720" y="1325880"/>
            <a:ext cx="1737360" cy="256032"/>
          </a:xfrm>
          <a:prstGeom prst="rect">
            <a:avLst/>
          </a:prstGeom>
          <a:solidFill>
            <a:srgbClr val="0F3A23"/>
          </a:solidFill>
          <a:ln w="12700">
            <a:solidFill>
              <a:srgbClr val="0F3A2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474720" y="1325880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4CC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VALEUR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3547872" y="1618488"/>
            <a:ext cx="1591056" cy="1344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Covoiturage KYC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 wilayas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Paiement local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Tarif transparent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5257800" y="1325880"/>
            <a:ext cx="1417320" cy="804672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257800" y="1325880"/>
            <a:ext cx="1417320" cy="256032"/>
          </a:xfrm>
          <a:prstGeom prst="rect">
            <a:avLst/>
          </a:prstGeom>
          <a:solidFill>
            <a:srgbClr val="0F3A23"/>
          </a:solidFill>
          <a:ln w="12700">
            <a:solidFill>
              <a:srgbClr val="0F3A2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257800" y="1325880"/>
            <a:ext cx="1417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4CC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RELATIONS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5330952" y="1618488"/>
            <a:ext cx="127101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in-app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Notation mutuelle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5257800" y="2176272"/>
            <a:ext cx="141732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257800" y="2176272"/>
            <a:ext cx="1417320" cy="256032"/>
          </a:xfrm>
          <a:prstGeom prst="rect">
            <a:avLst/>
          </a:prstGeom>
          <a:solidFill>
            <a:srgbClr val="0F3A23"/>
          </a:solidFill>
          <a:ln w="12700">
            <a:solidFill>
              <a:srgbClr val="0F3A2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257800" y="2176272"/>
            <a:ext cx="1417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4CC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CANAUX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5330952" y="2468880"/>
            <a:ext cx="1271016" cy="493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mobiles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Réseaux sociaux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Campus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6720840" y="1325880"/>
            <a:ext cx="192024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720840" y="1325880"/>
            <a:ext cx="1920240" cy="256032"/>
          </a:xfrm>
          <a:prstGeom prst="rect">
            <a:avLst/>
          </a:prstGeom>
          <a:solidFill>
            <a:srgbClr val="0F3A23"/>
          </a:solidFill>
          <a:ln w="12700">
            <a:solidFill>
              <a:srgbClr val="0F3A2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20840" y="1325880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4CC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SEGMENTS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6793992" y="1618488"/>
            <a:ext cx="1773936" cy="1344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Étudiants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Professionnels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Familles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411480" y="3108960"/>
            <a:ext cx="384048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11480" y="3108960"/>
            <a:ext cx="3840480" cy="256032"/>
          </a:xfrm>
          <a:prstGeom prst="rect">
            <a:avLst/>
          </a:prstGeom>
          <a:solidFill>
            <a:srgbClr val="0F3A23"/>
          </a:solidFill>
          <a:ln w="12700">
            <a:solidFill>
              <a:srgbClr val="0F3A2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11480" y="3108960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4CC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COÛTS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484632" y="3401568"/>
            <a:ext cx="3694176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Hébergement VPS • API tiers • Marketing digital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4297680" y="3108960"/>
            <a:ext cx="434340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297680" y="3108960"/>
            <a:ext cx="4343400" cy="256032"/>
          </a:xfrm>
          <a:prstGeom prst="rect">
            <a:avLst/>
          </a:prstGeom>
          <a:solidFill>
            <a:srgbClr val="0F3A23"/>
          </a:solidFill>
          <a:ln w="12700">
            <a:solidFill>
              <a:srgbClr val="0F3A2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297680" y="3108960"/>
            <a:ext cx="4343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4CC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REVENUS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4370832" y="3401568"/>
            <a:ext cx="4197096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Commission 12% • Abonnement Premium • Partenariats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685800" y="3977640"/>
            <a:ext cx="7772400" cy="457200"/>
          </a:xfrm>
          <a:prstGeom prst="roundRect">
            <a:avLst>
              <a:gd name="adj" fmla="val 12000"/>
            </a:avLst>
          </a:prstGeom>
          <a:solidFill>
            <a:srgbClr val="E8F5E9"/>
          </a:solidFill>
          <a:ln w="6350">
            <a:solidFill>
              <a:srgbClr val="166E3A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85800" y="397764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6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inspiré du BMC de BlaBlaCar, adapté au contexte algérien (paiement local + KYC souverain)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0" y="365760"/>
            <a:ext cx="4114800" cy="411480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algn="l" indent="0" marL="0">
              <a:buNone/>
            </a:pPr>
            <a:r>
              <a:rPr lang="en-US" sz="22000" b="1" dirty="0">
                <a:solidFill>
                  <a:srgbClr val="ECEA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26</a:t>
            </a:r>
            <a:endParaRPr lang="en-US" sz="220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166E3A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411480"/>
            <a:ext cx="292608" cy="32004"/>
          </a:xfrm>
          <a:prstGeom prst="rect">
            <a:avLst/>
          </a:prstGeom>
          <a:solidFill>
            <a:srgbClr val="4CC080"/>
          </a:solidFill>
          <a:ln w="12700">
            <a:solidFill>
              <a:srgbClr val="4CC0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347472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66E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MODÈLE ÉCONOMIQUE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955280" y="347472"/>
            <a:ext cx="713232" cy="274320"/>
          </a:xfrm>
          <a:prstGeom prst="roundRect">
            <a:avLst>
              <a:gd name="adj" fmla="val 50000"/>
            </a:avLst>
          </a:prstGeom>
          <a:solidFill>
            <a:srgbClr val="0F3A23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0" y="347472"/>
            <a:ext cx="7132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CC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26/31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6858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de Revenus &amp; Prévisions Financières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502920" y="1371600"/>
            <a:ext cx="269748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  <a:effectLst>
            <a:outerShdw sx="100000" sy="100000" kx="0" ky="0" algn="bl" rotWithShape="0" blurRad="101600" dist="25400" dir="8100000">
              <a:srgbClr val="0A1F14">
                <a:alpha val="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12648" y="1632204"/>
            <a:ext cx="347472" cy="347472"/>
          </a:xfrm>
          <a:prstGeom prst="roundRect">
            <a:avLst>
              <a:gd name="adj" fmla="val 15789"/>
            </a:avLst>
          </a:prstGeom>
          <a:solidFill>
            <a:srgbClr val="F5F1E8"/>
          </a:solidFill>
          <a:ln w="12700">
            <a:solidFill>
              <a:srgbClr val="F5F1E8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677924"/>
            <a:ext cx="256032" cy="256032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051560" y="1463040"/>
            <a:ext cx="20391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Commission 12%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1051560" y="1673352"/>
            <a:ext cx="2039112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chaque trajet réservé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la plateforme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3383280" y="1371600"/>
            <a:ext cx="269748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  <a:effectLst>
            <a:outerShdw sx="100000" sy="100000" kx="0" ky="0" algn="bl" rotWithShape="0" blurRad="101600" dist="25400" dir="8100000">
              <a:srgbClr val="0A1F14">
                <a:alpha val="5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3493008" y="1632204"/>
            <a:ext cx="347472" cy="347472"/>
          </a:xfrm>
          <a:prstGeom prst="roundRect">
            <a:avLst>
              <a:gd name="adj" fmla="val 15789"/>
            </a:avLst>
          </a:prstGeom>
          <a:solidFill>
            <a:srgbClr val="F5F1E8"/>
          </a:solidFill>
          <a:ln w="12700">
            <a:solidFill>
              <a:srgbClr val="F5F1E8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8728" y="1677924"/>
            <a:ext cx="256032" cy="256032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3931920" y="1463040"/>
            <a:ext cx="20391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Driver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3931920" y="1673352"/>
            <a:ext cx="2039112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Abonnement mensuel 500 DA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Visibilité prioritaire</a:t>
            </a:r>
            <a:endParaRPr lang="en-US" sz="900" dirty="0"/>
          </a:p>
        </p:txBody>
      </p:sp>
      <p:sp>
        <p:nvSpPr>
          <p:cNvPr id="19" name="Shape 15"/>
          <p:cNvSpPr/>
          <p:nvPr/>
        </p:nvSpPr>
        <p:spPr>
          <a:xfrm>
            <a:off x="6263640" y="1371600"/>
            <a:ext cx="269748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  <a:effectLst>
            <a:outerShdw sx="100000" sy="100000" kx="0" ky="0" algn="bl" rotWithShape="0" blurRad="101600" dist="25400" dir="8100000">
              <a:srgbClr val="0A1F14">
                <a:alpha val="5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373368" y="1632204"/>
            <a:ext cx="347472" cy="347472"/>
          </a:xfrm>
          <a:prstGeom prst="roundRect">
            <a:avLst>
              <a:gd name="adj" fmla="val 15789"/>
            </a:avLst>
          </a:prstGeom>
          <a:solidFill>
            <a:srgbClr val="F5F1E8"/>
          </a:solidFill>
          <a:ln w="12700">
            <a:solidFill>
              <a:srgbClr val="F5F1E8"/>
            </a:solidFill>
            <a:prstDash val="solid"/>
          </a:ln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9088" y="1677924"/>
            <a:ext cx="256032" cy="256032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6812280" y="1463040"/>
            <a:ext cx="20391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Partenariats</a:t>
            </a:r>
            <a:endParaRPr lang="en-US" sz="1150" dirty="0"/>
          </a:p>
        </p:txBody>
      </p:sp>
      <p:sp>
        <p:nvSpPr>
          <p:cNvPr id="23" name="Text 18"/>
          <p:cNvSpPr/>
          <p:nvPr/>
        </p:nvSpPr>
        <p:spPr>
          <a:xfrm>
            <a:off x="6812280" y="1673352"/>
            <a:ext cx="2039112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Stations-service, assurances,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opérateurs télécoms</a:t>
            </a:r>
            <a:endParaRPr lang="en-US" sz="900" dirty="0"/>
          </a:p>
        </p:txBody>
      </p:sp>
      <p:sp>
        <p:nvSpPr>
          <p:cNvPr id="24" name="Text 19"/>
          <p:cNvSpPr/>
          <p:nvPr/>
        </p:nvSpPr>
        <p:spPr>
          <a:xfrm>
            <a:off x="502920" y="2468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Prévisions sur 3 ans</a:t>
            </a:r>
            <a:endParaRPr lang="en-US" sz="1200" dirty="0"/>
          </a:p>
        </p:txBody>
      </p:sp>
      <p:sp>
        <p:nvSpPr>
          <p:cNvPr id="25" name="Shape 20"/>
          <p:cNvSpPr/>
          <p:nvPr/>
        </p:nvSpPr>
        <p:spPr>
          <a:xfrm>
            <a:off x="685800" y="2788920"/>
            <a:ext cx="1943100" cy="320040"/>
          </a:xfrm>
          <a:prstGeom prst="rect">
            <a:avLst/>
          </a:prstGeom>
          <a:solidFill>
            <a:srgbClr val="0F3A23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685800" y="2788920"/>
            <a:ext cx="19431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Indicateur</a:t>
            </a:r>
            <a:endParaRPr lang="en-US" sz="1000" dirty="0"/>
          </a:p>
        </p:txBody>
      </p:sp>
      <p:sp>
        <p:nvSpPr>
          <p:cNvPr id="27" name="Shape 22"/>
          <p:cNvSpPr/>
          <p:nvPr/>
        </p:nvSpPr>
        <p:spPr>
          <a:xfrm>
            <a:off x="2628900" y="2788920"/>
            <a:ext cx="1943100" cy="320040"/>
          </a:xfrm>
          <a:prstGeom prst="rect">
            <a:avLst/>
          </a:prstGeom>
          <a:solidFill>
            <a:srgbClr val="0F3A23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2628900" y="2788920"/>
            <a:ext cx="19431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Année 1</a:t>
            </a:r>
            <a:endParaRPr lang="en-US" sz="1000" dirty="0"/>
          </a:p>
        </p:txBody>
      </p:sp>
      <p:sp>
        <p:nvSpPr>
          <p:cNvPr id="29" name="Shape 24"/>
          <p:cNvSpPr/>
          <p:nvPr/>
        </p:nvSpPr>
        <p:spPr>
          <a:xfrm>
            <a:off x="4572000" y="2788920"/>
            <a:ext cx="1943100" cy="320040"/>
          </a:xfrm>
          <a:prstGeom prst="rect">
            <a:avLst/>
          </a:prstGeom>
          <a:solidFill>
            <a:srgbClr val="0F3A23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4572000" y="2788920"/>
            <a:ext cx="19431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Année 2</a:t>
            </a:r>
            <a:endParaRPr lang="en-US" sz="1000" dirty="0"/>
          </a:p>
        </p:txBody>
      </p:sp>
      <p:sp>
        <p:nvSpPr>
          <p:cNvPr id="31" name="Shape 26"/>
          <p:cNvSpPr/>
          <p:nvPr/>
        </p:nvSpPr>
        <p:spPr>
          <a:xfrm>
            <a:off x="6515100" y="2788920"/>
            <a:ext cx="1943100" cy="320040"/>
          </a:xfrm>
          <a:prstGeom prst="rect">
            <a:avLst/>
          </a:prstGeom>
          <a:solidFill>
            <a:srgbClr val="0F3A23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32" name="Text 27"/>
          <p:cNvSpPr/>
          <p:nvPr/>
        </p:nvSpPr>
        <p:spPr>
          <a:xfrm>
            <a:off x="6515100" y="2788920"/>
            <a:ext cx="19431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Année 3</a:t>
            </a:r>
            <a:endParaRPr lang="en-US" sz="1000" dirty="0"/>
          </a:p>
        </p:txBody>
      </p:sp>
      <p:sp>
        <p:nvSpPr>
          <p:cNvPr id="33" name="Shape 28"/>
          <p:cNvSpPr/>
          <p:nvPr/>
        </p:nvSpPr>
        <p:spPr>
          <a:xfrm>
            <a:off x="685800" y="3108960"/>
            <a:ext cx="194310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34" name="Text 29"/>
          <p:cNvSpPr/>
          <p:nvPr/>
        </p:nvSpPr>
        <p:spPr>
          <a:xfrm>
            <a:off x="685800" y="3108960"/>
            <a:ext cx="19431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Utilisateurs actifs</a:t>
            </a:r>
            <a:endParaRPr lang="en-US" sz="950" dirty="0"/>
          </a:p>
        </p:txBody>
      </p:sp>
      <p:sp>
        <p:nvSpPr>
          <p:cNvPr id="35" name="Shape 30"/>
          <p:cNvSpPr/>
          <p:nvPr/>
        </p:nvSpPr>
        <p:spPr>
          <a:xfrm>
            <a:off x="2628900" y="3108960"/>
            <a:ext cx="194310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2628900" y="3108960"/>
            <a:ext cx="19431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5 000</a:t>
            </a:r>
            <a:endParaRPr lang="en-US" sz="950" dirty="0"/>
          </a:p>
        </p:txBody>
      </p:sp>
      <p:sp>
        <p:nvSpPr>
          <p:cNvPr id="37" name="Shape 32"/>
          <p:cNvSpPr/>
          <p:nvPr/>
        </p:nvSpPr>
        <p:spPr>
          <a:xfrm>
            <a:off x="4572000" y="3108960"/>
            <a:ext cx="194310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38" name="Text 33"/>
          <p:cNvSpPr/>
          <p:nvPr/>
        </p:nvSpPr>
        <p:spPr>
          <a:xfrm>
            <a:off x="4572000" y="3108960"/>
            <a:ext cx="19431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25 000</a:t>
            </a:r>
            <a:endParaRPr lang="en-US" sz="950" dirty="0"/>
          </a:p>
        </p:txBody>
      </p:sp>
      <p:sp>
        <p:nvSpPr>
          <p:cNvPr id="39" name="Shape 34"/>
          <p:cNvSpPr/>
          <p:nvPr/>
        </p:nvSpPr>
        <p:spPr>
          <a:xfrm>
            <a:off x="6515100" y="3108960"/>
            <a:ext cx="194310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40" name="Text 35"/>
          <p:cNvSpPr/>
          <p:nvPr/>
        </p:nvSpPr>
        <p:spPr>
          <a:xfrm>
            <a:off x="6515100" y="3108960"/>
            <a:ext cx="19431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80 000</a:t>
            </a:r>
            <a:endParaRPr lang="en-US" sz="950" dirty="0"/>
          </a:p>
        </p:txBody>
      </p:sp>
      <p:sp>
        <p:nvSpPr>
          <p:cNvPr id="41" name="Shape 36"/>
          <p:cNvSpPr/>
          <p:nvPr/>
        </p:nvSpPr>
        <p:spPr>
          <a:xfrm>
            <a:off x="685800" y="3456432"/>
            <a:ext cx="194310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42" name="Text 37"/>
          <p:cNvSpPr/>
          <p:nvPr/>
        </p:nvSpPr>
        <p:spPr>
          <a:xfrm>
            <a:off x="685800" y="3456432"/>
            <a:ext cx="19431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Trajets/mois</a:t>
            </a:r>
            <a:endParaRPr lang="en-US" sz="950" dirty="0"/>
          </a:p>
        </p:txBody>
      </p:sp>
      <p:sp>
        <p:nvSpPr>
          <p:cNvPr id="43" name="Shape 38"/>
          <p:cNvSpPr/>
          <p:nvPr/>
        </p:nvSpPr>
        <p:spPr>
          <a:xfrm>
            <a:off x="2628900" y="3456432"/>
            <a:ext cx="194310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44" name="Text 39"/>
          <p:cNvSpPr/>
          <p:nvPr/>
        </p:nvSpPr>
        <p:spPr>
          <a:xfrm>
            <a:off x="2628900" y="3456432"/>
            <a:ext cx="19431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2 000</a:t>
            </a:r>
            <a:endParaRPr lang="en-US" sz="950" dirty="0"/>
          </a:p>
        </p:txBody>
      </p:sp>
      <p:sp>
        <p:nvSpPr>
          <p:cNvPr id="45" name="Shape 40"/>
          <p:cNvSpPr/>
          <p:nvPr/>
        </p:nvSpPr>
        <p:spPr>
          <a:xfrm>
            <a:off x="4572000" y="3456432"/>
            <a:ext cx="194310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46" name="Text 41"/>
          <p:cNvSpPr/>
          <p:nvPr/>
        </p:nvSpPr>
        <p:spPr>
          <a:xfrm>
            <a:off x="4572000" y="3456432"/>
            <a:ext cx="19431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12 000</a:t>
            </a:r>
            <a:endParaRPr lang="en-US" sz="950" dirty="0"/>
          </a:p>
        </p:txBody>
      </p:sp>
      <p:sp>
        <p:nvSpPr>
          <p:cNvPr id="47" name="Shape 42"/>
          <p:cNvSpPr/>
          <p:nvPr/>
        </p:nvSpPr>
        <p:spPr>
          <a:xfrm>
            <a:off x="6515100" y="3456432"/>
            <a:ext cx="194310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48" name="Text 43"/>
          <p:cNvSpPr/>
          <p:nvPr/>
        </p:nvSpPr>
        <p:spPr>
          <a:xfrm>
            <a:off x="6515100" y="3456432"/>
            <a:ext cx="19431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40 000</a:t>
            </a:r>
            <a:endParaRPr lang="en-US" sz="950" dirty="0"/>
          </a:p>
        </p:txBody>
      </p:sp>
      <p:sp>
        <p:nvSpPr>
          <p:cNvPr id="49" name="Shape 44"/>
          <p:cNvSpPr/>
          <p:nvPr/>
        </p:nvSpPr>
        <p:spPr>
          <a:xfrm>
            <a:off x="685800" y="3803904"/>
            <a:ext cx="194310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50" name="Text 45"/>
          <p:cNvSpPr/>
          <p:nvPr/>
        </p:nvSpPr>
        <p:spPr>
          <a:xfrm>
            <a:off x="685800" y="3803904"/>
            <a:ext cx="19431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 estimé (DA)</a:t>
            </a:r>
            <a:endParaRPr lang="en-US" sz="950" dirty="0"/>
          </a:p>
        </p:txBody>
      </p:sp>
      <p:sp>
        <p:nvSpPr>
          <p:cNvPr id="51" name="Shape 46"/>
          <p:cNvSpPr/>
          <p:nvPr/>
        </p:nvSpPr>
        <p:spPr>
          <a:xfrm>
            <a:off x="2628900" y="3803904"/>
            <a:ext cx="194310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52" name="Text 47"/>
          <p:cNvSpPr/>
          <p:nvPr/>
        </p:nvSpPr>
        <p:spPr>
          <a:xfrm>
            <a:off x="2628900" y="3803904"/>
            <a:ext cx="19431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3.6M</a:t>
            </a:r>
            <a:endParaRPr lang="en-US" sz="950" dirty="0"/>
          </a:p>
        </p:txBody>
      </p:sp>
      <p:sp>
        <p:nvSpPr>
          <p:cNvPr id="53" name="Shape 48"/>
          <p:cNvSpPr/>
          <p:nvPr/>
        </p:nvSpPr>
        <p:spPr>
          <a:xfrm>
            <a:off x="4572000" y="3803904"/>
            <a:ext cx="194310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54" name="Text 49"/>
          <p:cNvSpPr/>
          <p:nvPr/>
        </p:nvSpPr>
        <p:spPr>
          <a:xfrm>
            <a:off x="4572000" y="3803904"/>
            <a:ext cx="19431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21.6M</a:t>
            </a:r>
            <a:endParaRPr lang="en-US" sz="950" dirty="0"/>
          </a:p>
        </p:txBody>
      </p:sp>
      <p:sp>
        <p:nvSpPr>
          <p:cNvPr id="55" name="Shape 50"/>
          <p:cNvSpPr/>
          <p:nvPr/>
        </p:nvSpPr>
        <p:spPr>
          <a:xfrm>
            <a:off x="6515100" y="3803904"/>
            <a:ext cx="194310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56" name="Text 51"/>
          <p:cNvSpPr/>
          <p:nvPr/>
        </p:nvSpPr>
        <p:spPr>
          <a:xfrm>
            <a:off x="6515100" y="3803904"/>
            <a:ext cx="19431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72M</a:t>
            </a:r>
            <a:endParaRPr lang="en-US" sz="950" dirty="0"/>
          </a:p>
        </p:txBody>
      </p:sp>
      <p:sp>
        <p:nvSpPr>
          <p:cNvPr id="57" name="Shape 52"/>
          <p:cNvSpPr/>
          <p:nvPr/>
        </p:nvSpPr>
        <p:spPr>
          <a:xfrm>
            <a:off x="685800" y="4151376"/>
            <a:ext cx="194310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58" name="Text 53"/>
          <p:cNvSpPr/>
          <p:nvPr/>
        </p:nvSpPr>
        <p:spPr>
          <a:xfrm>
            <a:off x="685800" y="4151376"/>
            <a:ext cx="19431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Seuil rentabilité</a:t>
            </a:r>
            <a:endParaRPr lang="en-US" sz="950" dirty="0"/>
          </a:p>
        </p:txBody>
      </p:sp>
      <p:sp>
        <p:nvSpPr>
          <p:cNvPr id="59" name="Shape 54"/>
          <p:cNvSpPr/>
          <p:nvPr/>
        </p:nvSpPr>
        <p:spPr>
          <a:xfrm>
            <a:off x="2628900" y="4151376"/>
            <a:ext cx="194310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60" name="Text 55"/>
          <p:cNvSpPr/>
          <p:nvPr/>
        </p:nvSpPr>
        <p:spPr>
          <a:xfrm>
            <a:off x="2628900" y="4151376"/>
            <a:ext cx="19431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950" dirty="0"/>
          </a:p>
        </p:txBody>
      </p:sp>
      <p:sp>
        <p:nvSpPr>
          <p:cNvPr id="61" name="Shape 56"/>
          <p:cNvSpPr/>
          <p:nvPr/>
        </p:nvSpPr>
        <p:spPr>
          <a:xfrm>
            <a:off x="4572000" y="4151376"/>
            <a:ext cx="194310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62" name="Text 57"/>
          <p:cNvSpPr/>
          <p:nvPr/>
        </p:nvSpPr>
        <p:spPr>
          <a:xfrm>
            <a:off x="4572000" y="4151376"/>
            <a:ext cx="19431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Atteint</a:t>
            </a:r>
            <a:endParaRPr lang="en-US" sz="950" dirty="0"/>
          </a:p>
        </p:txBody>
      </p:sp>
      <p:sp>
        <p:nvSpPr>
          <p:cNvPr id="63" name="Shape 58"/>
          <p:cNvSpPr/>
          <p:nvPr/>
        </p:nvSpPr>
        <p:spPr>
          <a:xfrm>
            <a:off x="6515100" y="4151376"/>
            <a:ext cx="194310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64" name="Text 59"/>
          <p:cNvSpPr/>
          <p:nvPr/>
        </p:nvSpPr>
        <p:spPr>
          <a:xfrm>
            <a:off x="6515100" y="4151376"/>
            <a:ext cx="19431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0" y="365760"/>
            <a:ext cx="4114800" cy="411480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algn="l" indent="0" marL="0">
              <a:buNone/>
            </a:pPr>
            <a:r>
              <a:rPr lang="en-US" sz="22000" b="1" dirty="0">
                <a:solidFill>
                  <a:srgbClr val="ECEA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27</a:t>
            </a:r>
            <a:endParaRPr lang="en-US" sz="220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166E3A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411480"/>
            <a:ext cx="292608" cy="32004"/>
          </a:xfrm>
          <a:prstGeom prst="rect">
            <a:avLst/>
          </a:prstGeom>
          <a:solidFill>
            <a:srgbClr val="4CC080"/>
          </a:solidFill>
          <a:ln w="12700">
            <a:solidFill>
              <a:srgbClr val="4CC0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347472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66E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MODÈLE ÉCONOMIQUE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955280" y="347472"/>
            <a:ext cx="713232" cy="274320"/>
          </a:xfrm>
          <a:prstGeom prst="roundRect">
            <a:avLst>
              <a:gd name="adj" fmla="val 50000"/>
            </a:avLst>
          </a:prstGeom>
          <a:solidFill>
            <a:srgbClr val="0F3A23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0" y="347472"/>
            <a:ext cx="7132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CC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27/31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6858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Propriété Intellectuelle &amp; Protection Légale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685800" y="1417320"/>
            <a:ext cx="7772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  <a:effectLst>
            <a:outerShdw sx="100000" sy="100000" kx="0" ky="0" algn="bl" rotWithShape="0" blurRad="76200" dist="12700" dir="8100000">
              <a:srgbClr val="0A1F14">
                <a:alpha val="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14400" y="1618488"/>
            <a:ext cx="640080" cy="640080"/>
          </a:xfrm>
          <a:prstGeom prst="ellipse">
            <a:avLst/>
          </a:prstGeom>
          <a:solidFill>
            <a:srgbClr val="E8F5E9"/>
          </a:solidFill>
          <a:ln w="12700">
            <a:solidFill>
              <a:srgbClr val="166E3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" y="1728216"/>
            <a:ext cx="420624" cy="420624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783080" y="155448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ONDA — Enregistrement du Code Source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7132320" y="1600200"/>
            <a:ext cx="1188720" cy="201168"/>
          </a:xfrm>
          <a:prstGeom prst="roundRect">
            <a:avLst>
              <a:gd name="adj" fmla="val 50000"/>
            </a:avLst>
          </a:prstGeom>
          <a:solidFill>
            <a:srgbClr val="166E3A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132320" y="1600200"/>
            <a:ext cx="1188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 Obtenu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1783080" y="187452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Dépôt officiel du code source complet de la plateforme RohWinBghit auprès de l'Office National des Droits d'Auteur et Droits Voisins.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685800" y="2788920"/>
            <a:ext cx="7772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  <a:effectLst>
            <a:outerShdw sx="100000" sy="100000" kx="0" ky="0" algn="bl" rotWithShape="0" blurRad="76200" dist="12700" dir="8100000">
              <a:srgbClr val="0A1F14">
                <a:alpha val="4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914400" y="2990088"/>
            <a:ext cx="640080" cy="640080"/>
          </a:xfrm>
          <a:prstGeom prst="ellipse">
            <a:avLst/>
          </a:prstGeom>
          <a:solidFill>
            <a:srgbClr val="E8F5E9"/>
          </a:solidFill>
          <a:ln w="12700">
            <a:solidFill>
              <a:srgbClr val="166E3A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" y="3099816"/>
            <a:ext cx="420624" cy="420624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1783080" y="292608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INAPI — Dépôt de Marque Commerciale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7132320" y="2971800"/>
            <a:ext cx="1188720" cy="201168"/>
          </a:xfrm>
          <a:prstGeom prst="roundRect">
            <a:avLst>
              <a:gd name="adj" fmla="val 50000"/>
            </a:avLst>
          </a:prstGeom>
          <a:solidFill>
            <a:srgbClr val="E8A838"/>
          </a:solidFill>
          <a:ln w="12700">
            <a:solidFill>
              <a:srgbClr val="E8A838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7132320" y="2971800"/>
            <a:ext cx="1188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Cours</a:t>
            </a:r>
            <a:endParaRPr lang="en-US" sz="800" dirty="0"/>
          </a:p>
        </p:txBody>
      </p:sp>
      <p:sp>
        <p:nvSpPr>
          <p:cNvPr id="22" name="Text 18"/>
          <p:cNvSpPr/>
          <p:nvPr/>
        </p:nvSpPr>
        <p:spPr>
          <a:xfrm>
            <a:off x="1783080" y="324612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Enregistrement de la marque « RohWinBghit » et du logo auprès de l'Institut National Algérien de la Propriété Industrielle.</a:t>
            </a:r>
            <a:endParaRPr lang="en-US" sz="1050" dirty="0"/>
          </a:p>
        </p:txBody>
      </p:sp>
      <p:sp>
        <p:nvSpPr>
          <p:cNvPr id="23" name="Shape 19"/>
          <p:cNvSpPr/>
          <p:nvPr/>
        </p:nvSpPr>
        <p:spPr>
          <a:xfrm>
            <a:off x="685800" y="3886200"/>
            <a:ext cx="7772400" cy="594360"/>
          </a:xfrm>
          <a:prstGeom prst="roundRect">
            <a:avLst>
              <a:gd name="adj" fmla="val 12308"/>
            </a:avLst>
          </a:prstGeom>
          <a:solidFill>
            <a:srgbClr val="0F3A23"/>
          </a:solidFill>
          <a:ln w="6350">
            <a:solidFill>
              <a:srgbClr val="4CC080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685800" y="3886200"/>
            <a:ext cx="7772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CC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Stratégie IP : Code protégé (ONDA) + Marque déposée (INAPI) + Licence MIT pour la communauté open source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F3A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0" y="365760"/>
            <a:ext cx="4114800" cy="411480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algn="l" indent="0" marL="0">
              <a:buNone/>
            </a:pPr>
            <a:r>
              <a:rPr lang="en-US" sz="22000" b="1" dirty="0">
                <a:solidFill>
                  <a:srgbClr val="163F2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28</a:t>
            </a:r>
            <a:endParaRPr lang="en-US" sz="220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166E3A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411480"/>
            <a:ext cx="292608" cy="32004"/>
          </a:xfrm>
          <a:prstGeom prst="rect">
            <a:avLst/>
          </a:prstGeom>
          <a:solidFill>
            <a:srgbClr val="4CC080"/>
          </a:solidFill>
          <a:ln w="12700">
            <a:solidFill>
              <a:srgbClr val="4CC0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347472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CC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CONCLUSION &amp; PERSPECTIVES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955280" y="347472"/>
            <a:ext cx="713232" cy="274320"/>
          </a:xfrm>
          <a:prstGeom prst="roundRect">
            <a:avLst>
              <a:gd name="adj" fmla="val 50000"/>
            </a:avLst>
          </a:prstGeom>
          <a:solidFill>
            <a:srgbClr val="0A1F14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0" y="347472"/>
            <a:ext cx="7132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CC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28/31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645920" y="1463040"/>
            <a:ext cx="1828800" cy="1828800"/>
          </a:xfrm>
          <a:prstGeom prst="ellipse">
            <a:avLst/>
          </a:prstGeom>
          <a:solidFill>
            <a:srgbClr val="4CC080"/>
          </a:solidFill>
          <a:ln w="12700">
            <a:solidFill>
              <a:srgbClr val="4CC080"/>
            </a:solidFill>
            <a:prstDash val="solid"/>
          </a:ln>
          <a:effectLst>
            <a:outerShdw sx="100000" sy="100000" kx="0" ky="0" algn="bl" rotWithShape="0" blurRad="152400" dist="38100" dir="10800000">
              <a:srgbClr val="000000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645920" y="146304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0A1F1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7</a:t>
            </a:r>
            <a:endParaRPr lang="en-US" sz="7200" dirty="0"/>
          </a:p>
        </p:txBody>
      </p:sp>
      <p:sp>
        <p:nvSpPr>
          <p:cNvPr id="10" name="Text 8"/>
          <p:cNvSpPr/>
          <p:nvPr/>
        </p:nvSpPr>
        <p:spPr>
          <a:xfrm>
            <a:off x="3840480" y="1645920"/>
            <a:ext cx="4846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&amp; Perspectives</a:t>
            </a:r>
            <a:endParaRPr lang="en-US" sz="3200" dirty="0"/>
          </a:p>
        </p:txBody>
      </p:sp>
      <p:sp>
        <p:nvSpPr>
          <p:cNvPr id="11" name="Shape 9"/>
          <p:cNvSpPr/>
          <p:nvPr/>
        </p:nvSpPr>
        <p:spPr>
          <a:xfrm>
            <a:off x="3840480" y="2743200"/>
            <a:ext cx="2743200" cy="36576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0" y="297180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 bilan ? Quelles perspectives ?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0" y="365760"/>
            <a:ext cx="4114800" cy="411480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algn="l" indent="0" marL="0">
              <a:buNone/>
            </a:pPr>
            <a:r>
              <a:rPr lang="en-US" sz="22000" b="1" dirty="0">
                <a:solidFill>
                  <a:srgbClr val="ECEA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29</a:t>
            </a:r>
            <a:endParaRPr lang="en-US" sz="220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166E3A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411480"/>
            <a:ext cx="292608" cy="32004"/>
          </a:xfrm>
          <a:prstGeom prst="rect">
            <a:avLst/>
          </a:prstGeom>
          <a:solidFill>
            <a:srgbClr val="4CC080"/>
          </a:solidFill>
          <a:ln w="12700">
            <a:solidFill>
              <a:srgbClr val="4CC0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347472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66E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CONCLUSION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955280" y="347472"/>
            <a:ext cx="713232" cy="274320"/>
          </a:xfrm>
          <a:prstGeom prst="roundRect">
            <a:avLst>
              <a:gd name="adj" fmla="val 50000"/>
            </a:avLst>
          </a:prstGeom>
          <a:solidFill>
            <a:srgbClr val="0F3A23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0" y="347472"/>
            <a:ext cx="7132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CC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29/31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6858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Bilan &amp; Contributions Académiques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685800" y="1371600"/>
            <a:ext cx="777240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536192"/>
            <a:ext cx="365760" cy="36576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371600" y="1444752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de Confiance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371600" y="1719072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Premier pipeline KYC biométrique (OCR + ArcFace + Liveness) adapté au marché algérien de la mobilité.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685800" y="2240280"/>
            <a:ext cx="7772400" cy="731520"/>
          </a:xfrm>
          <a:prstGeom prst="roundRect">
            <a:avLst>
              <a:gd name="adj" fmla="val 10000"/>
            </a:avLst>
          </a:prstGeom>
          <a:solidFill>
            <a:srgbClr val="E8F5E9"/>
          </a:solidFill>
          <a:ln w="6350">
            <a:solidFill>
              <a:srgbClr val="E7ECE8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404872"/>
            <a:ext cx="365760" cy="36576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371600" y="2313432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Souveraine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1371600" y="2587752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Modèles d'IA traitant les données localement en conformité avec la Loi 25-11, sans transfert transfrontalier.</a:t>
            </a:r>
            <a:endParaRPr lang="en-US" sz="950" dirty="0"/>
          </a:p>
        </p:txBody>
      </p:sp>
      <p:sp>
        <p:nvSpPr>
          <p:cNvPr id="17" name="Shape 13"/>
          <p:cNvSpPr/>
          <p:nvPr/>
        </p:nvSpPr>
        <p:spPr>
          <a:xfrm>
            <a:off x="685800" y="3108960"/>
            <a:ext cx="777240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3273552"/>
            <a:ext cx="365760" cy="36576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371600" y="3182112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Monétique Locale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1371600" y="3456432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Intégration SATIM/Edahabia/CIB, première plateforme de covoiturage avec paiement électronique algérien.</a:t>
            </a:r>
            <a:endParaRPr lang="en-US" sz="950" dirty="0"/>
          </a:p>
        </p:txBody>
      </p:sp>
      <p:sp>
        <p:nvSpPr>
          <p:cNvPr id="21" name="Shape 16"/>
          <p:cNvSpPr/>
          <p:nvPr/>
        </p:nvSpPr>
        <p:spPr>
          <a:xfrm>
            <a:off x="685800" y="3977640"/>
            <a:ext cx="7772400" cy="731520"/>
          </a:xfrm>
          <a:prstGeom prst="roundRect">
            <a:avLst>
              <a:gd name="adj" fmla="val 10000"/>
            </a:avLst>
          </a:prstGeom>
          <a:solidFill>
            <a:srgbClr val="E8F5E9"/>
          </a:solidFill>
          <a:ln w="6350">
            <a:solidFill>
              <a:srgbClr val="E7ECE8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142232"/>
            <a:ext cx="365760" cy="36576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371600" y="4050792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Empirique</a:t>
            </a:r>
            <a:endParaRPr lang="en-US" sz="1200" dirty="0"/>
          </a:p>
        </p:txBody>
      </p:sp>
      <p:sp>
        <p:nvSpPr>
          <p:cNvPr id="24" name="Text 18"/>
          <p:cNvSpPr/>
          <p:nvPr/>
        </p:nvSpPr>
        <p:spPr>
          <a:xfrm>
            <a:off x="1371600" y="4325112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97.4% tests Jest réussis + SUS 71.6/100 validant l'approche technique et l'expérience utilisateur.</a:t>
            </a:r>
            <a:endParaRPr lang="en-US" sz="9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0" y="365760"/>
            <a:ext cx="4114800" cy="411480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algn="l" indent="0" marL="0">
              <a:buNone/>
            </a:pPr>
            <a:r>
              <a:rPr lang="en-US" sz="22000" b="1" dirty="0">
                <a:solidFill>
                  <a:srgbClr val="ECEA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30</a:t>
            </a:r>
            <a:endParaRPr lang="en-US" sz="220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166E3A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411480"/>
            <a:ext cx="292608" cy="32004"/>
          </a:xfrm>
          <a:prstGeom prst="rect">
            <a:avLst/>
          </a:prstGeom>
          <a:solidFill>
            <a:srgbClr val="4CC080"/>
          </a:solidFill>
          <a:ln w="12700">
            <a:solidFill>
              <a:srgbClr val="4CC0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347472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66E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CONCLUSION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955280" y="347472"/>
            <a:ext cx="713232" cy="274320"/>
          </a:xfrm>
          <a:prstGeom prst="roundRect">
            <a:avLst>
              <a:gd name="adj" fmla="val 50000"/>
            </a:avLst>
          </a:prstGeom>
          <a:solidFill>
            <a:srgbClr val="0F3A23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0" y="347472"/>
            <a:ext cx="7132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CC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30/31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6858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Limites &amp; Perspectives d'Évolution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502920" y="1325880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D4401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LIMITES IDENTIFIÉES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02920" y="1645920"/>
            <a:ext cx="3840480" cy="4114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1645920"/>
            <a:ext cx="274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8A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14400" y="1645920"/>
            <a:ext cx="3383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Paiement en mode sandbox (non connecté à la production SATIM)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02920" y="2148840"/>
            <a:ext cx="3840480" cy="4114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2148840"/>
            <a:ext cx="274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8A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14400" y="2148840"/>
            <a:ext cx="3383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Échantillon SUS limité (N=18 utilisateurs)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02920" y="2651760"/>
            <a:ext cx="3840480" cy="4114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2651760"/>
            <a:ext cx="274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8A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914400" y="2651760"/>
            <a:ext cx="3383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de charge non réalisés en conditions réelles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02920" y="3154680"/>
            <a:ext cx="3840480" cy="4114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6350">
            <a:solidFill>
              <a:srgbClr val="E7ECE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" y="3154680"/>
            <a:ext cx="274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8A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914400" y="3154680"/>
            <a:ext cx="3383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KYC testé sur dataset restreint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663440" y="1325880"/>
            <a:ext cx="3977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66E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PERSPECTIVES FUTURES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663440" y="1645920"/>
            <a:ext cx="3977640" cy="411480"/>
          </a:xfrm>
          <a:prstGeom prst="roundRect">
            <a:avLst>
              <a:gd name="adj" fmla="val 13333"/>
            </a:avLst>
          </a:prstGeom>
          <a:solidFill>
            <a:srgbClr val="E8F5E9"/>
          </a:solidFill>
          <a:ln w="6350">
            <a:solidFill>
              <a:srgbClr val="166E3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754880" y="1645920"/>
            <a:ext cx="274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6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074920" y="1645920"/>
            <a:ext cx="3474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Tarification dynamique (surge pricing) par ML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663440" y="2148840"/>
            <a:ext cx="3977640" cy="411480"/>
          </a:xfrm>
          <a:prstGeom prst="roundRect">
            <a:avLst>
              <a:gd name="adj" fmla="val 13333"/>
            </a:avLst>
          </a:prstGeom>
          <a:solidFill>
            <a:srgbClr val="E8F5E9"/>
          </a:solidFill>
          <a:ln w="6350">
            <a:solidFill>
              <a:srgbClr val="166E3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54880" y="2148840"/>
            <a:ext cx="274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6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074920" y="2148840"/>
            <a:ext cx="3474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pilote : Tlemcen → Oran → Alger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663440" y="2651760"/>
            <a:ext cx="3977640" cy="411480"/>
          </a:xfrm>
          <a:prstGeom prst="roundRect">
            <a:avLst>
              <a:gd name="adj" fmla="val 13333"/>
            </a:avLst>
          </a:prstGeom>
          <a:solidFill>
            <a:srgbClr val="E8F5E9"/>
          </a:solidFill>
          <a:ln w="6350">
            <a:solidFill>
              <a:srgbClr val="166E3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754880" y="2651760"/>
            <a:ext cx="274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6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074920" y="2651760"/>
            <a:ext cx="3474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Intégration paiement production SATIM/CIB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663440" y="3154680"/>
            <a:ext cx="3977640" cy="411480"/>
          </a:xfrm>
          <a:prstGeom prst="roundRect">
            <a:avLst>
              <a:gd name="adj" fmla="val 13333"/>
            </a:avLst>
          </a:prstGeom>
          <a:solidFill>
            <a:srgbClr val="E8F5E9"/>
          </a:solidFill>
          <a:ln w="6350">
            <a:solidFill>
              <a:srgbClr val="166E3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754880" y="3154680"/>
            <a:ext cx="274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6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074920" y="3154680"/>
            <a:ext cx="3474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 vers le transport de colis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85800" y="3794760"/>
            <a:ext cx="7772400" cy="640080"/>
          </a:xfrm>
          <a:prstGeom prst="roundRect">
            <a:avLst>
              <a:gd name="adj" fmla="val 11429"/>
            </a:avLst>
          </a:prstGeom>
          <a:solidFill>
            <a:srgbClr val="0F3A23"/>
          </a:solidFill>
          <a:ln w="6350">
            <a:solidFill>
              <a:srgbClr val="4CC08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" y="379476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CC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: Devenir la référence algérienne du covoiturage sécurisé inter-wilayas,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4CC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démocratisant la mobilité partagée à travers les 69 wilayas du pays.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F3A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0" y="365760"/>
            <a:ext cx="4114800" cy="411480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algn="l" indent="0" marL="0">
              <a:buNone/>
            </a:pPr>
            <a:r>
              <a:rPr lang="en-US" sz="22000" b="1" dirty="0">
                <a:solidFill>
                  <a:srgbClr val="163F2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31</a:t>
            </a:r>
            <a:endParaRPr lang="en-US" sz="220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166E3A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411480"/>
            <a:ext cx="292608" cy="32004"/>
          </a:xfrm>
          <a:prstGeom prst="rect">
            <a:avLst/>
          </a:prstGeom>
          <a:solidFill>
            <a:srgbClr val="4CC080"/>
          </a:solidFill>
          <a:ln w="12700">
            <a:solidFill>
              <a:srgbClr val="4CC0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347472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CC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955280" y="347472"/>
            <a:ext cx="713232" cy="274320"/>
          </a:xfrm>
          <a:prstGeom prst="roundRect">
            <a:avLst>
              <a:gd name="adj" fmla="val 50000"/>
            </a:avLst>
          </a:prstGeom>
          <a:solidFill>
            <a:srgbClr val="0A1F14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0" y="347472"/>
            <a:ext cx="7132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CC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31/31</a:t>
            </a:r>
            <a:endParaRPr lang="en-US" sz="900" dirty="0"/>
          </a:p>
        </p:txBody>
      </p:sp>
      <p:pic>
        <p:nvPicPr>
          <p:cNvPr id="8" name="Image 0" descr="/Users/mohamed/Downloads/RohWinBghit_LaTeX_Complet/Screen_mobile/logo_bu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31920" y="1097280"/>
            <a:ext cx="1280160" cy="12801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57200" y="24688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Merci pour Votre Attention</a:t>
            </a:r>
            <a:endParaRPr lang="en-US" sz="3400" dirty="0"/>
          </a:p>
        </p:txBody>
      </p:sp>
      <p:sp>
        <p:nvSpPr>
          <p:cNvPr id="10" name="Shape 7"/>
          <p:cNvSpPr/>
          <p:nvPr/>
        </p:nvSpPr>
        <p:spPr>
          <a:xfrm>
            <a:off x="3657600" y="3154680"/>
            <a:ext cx="1828800" cy="27432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280160" y="3337560"/>
            <a:ext cx="299923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4CC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Présenté par :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280160" y="3575304"/>
            <a:ext cx="2999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AHMED BACHA Djamel Eddine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280160" y="3831336"/>
            <a:ext cx="2999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BELHORMA Sidi Mohammed Reduane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4562856" y="3429000"/>
            <a:ext cx="9144" cy="502920"/>
          </a:xfrm>
          <a:prstGeom prst="rect">
            <a:avLst/>
          </a:prstGeom>
          <a:solidFill>
            <a:srgbClr val="166E3A"/>
          </a:solidFill>
          <a:ln w="12700">
            <a:solidFill>
              <a:srgbClr val="166E3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855464" y="3337560"/>
            <a:ext cx="299923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4CC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Encadré par :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4855464" y="3575304"/>
            <a:ext cx="29992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Mme BENLEDGHEM Rafika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4855464" y="3831336"/>
            <a:ext cx="299923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5F1E8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Département d'Informatique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5F1E8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Université de Tlemcen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0" y="4425696"/>
            <a:ext cx="9144000" cy="713232"/>
          </a:xfrm>
          <a:prstGeom prst="rect">
            <a:avLst/>
          </a:prstGeom>
          <a:solidFill>
            <a:srgbClr val="4CC080"/>
          </a:solidFill>
          <a:ln w="12700">
            <a:solidFill>
              <a:srgbClr val="4CC08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0" y="4425696"/>
            <a:ext cx="91440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1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Demandez le mémoire complet ou une démonstration en direct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RohWinBghit — Présentation de Soutenance Master 2 GL</dc:title>
  <dc:subject>PptxGenJS Presentation</dc:subject>
  <dc:creator>AHMED BACHA Djamel Eddine &amp; BELHORMA Sidi Mohammed Reduane</dc:creator>
  <cp:lastModifiedBy>AHMED BACHA Djamel Eddine &amp; BELHORMA Sidi Mohammed Reduane</cp:lastModifiedBy>
  <cp:revision>1</cp:revision>
  <dcterms:created xsi:type="dcterms:W3CDTF">2026-06-07T18:35:20Z</dcterms:created>
  <dcterms:modified xsi:type="dcterms:W3CDTF">2026-06-07T18:35:20Z</dcterms:modified>
</cp:coreProperties>
</file>