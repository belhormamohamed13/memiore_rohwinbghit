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" y="34747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DÉBUT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01/37</a:t>
            </a:r>
            <a:endParaRPr lang="en-US" sz="900" dirty="0"/>
          </a:p>
        </p:txBody>
      </p:sp>
      <p:pic>
        <p:nvPicPr>
          <p:cNvPr id="7" name="Image 0" descr="/Users/mohamed/Downloads/RohWinBghit_LaTeX_Complet/Screen_mobile/univ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676656"/>
            <a:ext cx="713232" cy="713232"/>
          </a:xfrm>
          <a:prstGeom prst="rect">
            <a:avLst/>
          </a:prstGeom>
        </p:spPr>
      </p:pic>
      <p:pic>
        <p:nvPicPr>
          <p:cNvPr id="8" name="Image 1" descr="/Users/mohamed/Downloads/RohWinBghit_LaTeX_Complet/Screen_mobile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36" y="1673352"/>
            <a:ext cx="713232" cy="713232"/>
          </a:xfrm>
          <a:prstGeom prst="rect">
            <a:avLst/>
          </a:prstGeom>
        </p:spPr>
      </p:pic>
      <p:pic>
        <p:nvPicPr>
          <p:cNvPr id="9" name="Image 2" descr="/Users/mohamed/Downloads/RohWinBghit_LaTeX_Complet/Screen_mobile/logo_b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536" y="1673352"/>
            <a:ext cx="713232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862072" y="1600200"/>
            <a:ext cx="50292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RohWinBghit — روح وين بغيت</a:t>
            </a:r>
            <a:endParaRPr lang="en-US" sz="4000" dirty="0"/>
          </a:p>
        </p:txBody>
      </p:sp>
      <p:sp>
        <p:nvSpPr>
          <p:cNvPr id="11" name="Text 6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mobile multiplateforme intelligente de covoiturage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inter-wilayas sécurisée adaptée au contexte algérien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Master en Génie Logiciel — Arrêté 1275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Abou Bekr Belkaïd — Tlemcen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AHMED BACHA Djamel Eddine &amp; BELHORMA Sidi Mohammed Reduane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 Mme BENLEDGHEM Rafika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 •   SÛR   •   ABORDABLE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11480" y="13258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" y="1581912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139903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Objectifs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1892808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? Quand ? Dans quel contexte ?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01568" y="1581912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86200" y="139903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Enjeux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1892808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? Pour qui ? Quel intérêt ?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172200" y="13258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1928" y="1581912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81928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139903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 &amp; Marché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1892808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Quoi faire ?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11480" y="2359152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208" y="2615184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5840" y="2432304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Besoins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5840" y="292608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sont les besoins ?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91840" y="2359152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01568" y="2615184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0156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886200" y="2432304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86200" y="292608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sont les concepts ?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72200" y="2359152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81928" y="2615184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8192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2432304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Réalisation &amp; Sécurité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66560" y="292608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 faire ?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11480" y="3392424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" y="3648456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1208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005840" y="346557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du Prototype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05840" y="39593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ça ressemble ?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91840" y="3392424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01568" y="3648456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1568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886200" y="346557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Business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86200" y="39593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résultats obtenus ?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172200" y="3392424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1928" y="3648456"/>
            <a:ext cx="365760" cy="36576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81928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766560" y="346557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66560" y="39593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Apports et perspectives ?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 &amp; Objectifs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? Quand ? Dans quel contexte 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du projet : Pourquoi RohWinBghit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Rapprochement Offre-Demande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Lutter contre la fragmentation du transport interurbain et l'asymétrie massive de l'information entre usagers.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9184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3736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Mutualisation des Coûts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2900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Offrir une alternative abordable (-40% sur le trajet individuel) face à l'inflation et au coût d'entretien des véhicules.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2648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7373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792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Numérique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Substituer les groupes informels sur les réseaux sociaux par un écosystème d'identité traçable et souverain.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national &amp; Objectifs SMART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 Algérien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Territoire de 2.38 Millions km² divisé en 69 wilayas.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Mobilité universitaire intense générant un flux de voyageurs étudiants massif et captif.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Arrêté Ministériel n° 1275 : cadre national d'incubation « Un diplôme, une Startup » à l'Université de Tlemcen.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Transition d'un prototype académique vers une entité créatrice de valeur économique.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73168" y="1389888"/>
            <a:ext cx="457200" cy="201168"/>
          </a:xfrm>
          <a:prstGeom prst="roundRect">
            <a:avLst>
              <a:gd name="adj" fmla="val 18182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3898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73168" y="162763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73168" y="1865376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mobile + admin web avec SUS &gt;= 70 sous 9 mois.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6720840" y="128016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0568" y="1389888"/>
            <a:ext cx="457200" cy="201168"/>
          </a:xfrm>
          <a:prstGeom prst="roundRect">
            <a:avLst>
              <a:gd name="adj" fmla="val 18182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0568" y="13898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830568" y="162763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30568" y="1865376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juridiques, UML 2.5 et schéma 3NF en 4 semaines.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663440" y="292608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73168" y="3035808"/>
            <a:ext cx="457200" cy="201168"/>
          </a:xfrm>
          <a:prstGeom prst="roundRect">
            <a:avLst>
              <a:gd name="adj" fmla="val 18182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73168" y="303580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OS2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73168" y="327355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73168" y="3511296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React Native, API Express et Mapbox en 16 semaines.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6720840" y="292608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3035808"/>
            <a:ext cx="457200" cy="201168"/>
          </a:xfrm>
          <a:prstGeom prst="roundRect">
            <a:avLst>
              <a:gd name="adj" fmla="val 18182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0568" y="303580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OS3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830568" y="327355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KYC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30568" y="3511296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IA FastAPI (InsightFace) en 6 semaines.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Problématique &amp; Enjeux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? Pour qui ? Quel intérêt 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centrale &amp; Enjeux du projet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0A1F14"/>
          </a:solidFill>
          <a:ln w="19050">
            <a:solidFill>
              <a:srgbClr val="166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12848" y="1417320"/>
            <a:ext cx="512064" cy="512064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1508760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1965960"/>
            <a:ext cx="3657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concevoir, structurer et déployer une architecture logicielle distribuée et tolérante aux pannes réseau pour le covoiturage inter-wilayas en Algérie, capable d'instaurer de la confiance par un pipeline KYC biométrique et d'intégrer les paiements nationaux ?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centrale de R&amp;D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12080" y="143560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qui ? (Enjeux Cibles)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846320" y="17830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1,9 Million d'étudiants ayant des besoins de navette hebdomadaires.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Travailleurs pendulaires inter-wilayas réguliers.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Conducteurs cherchant à amortir leurs frais de trajet.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663440" y="30175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15468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12080" y="317296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intérêt ? (Opportunités)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46320" y="35204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Plateau de l'infrastructure 4G nationale et smartphone.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Croissance exponentielle du e-paiement (CIB &amp; Edahabia).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Transition sociologique vers l'économie collaborative mobile.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CADRE DU PROJET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Cadre du Projet &amp; Marché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Quoi faire 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CADRE DU PROJET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Arrêté 1275 et Innovation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Startup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conçu spécifiquement sous le mécanisme d'incubation universitaire visant l'obtention du label Startup d'État.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9184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3736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Souveraineté Technologique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2900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modèles IA propriétaires d'anti-spoofing biométrique locaux adaptés au format des documents nationaux.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2648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7373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792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Propriété Intellectuelle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actifs du code source auprès de l'ONDA et de la marque auprès de l'INAPI.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MARCHÉ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numérique &amp; limites de la concurrence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Marché Algérien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17830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48M+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2331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Internet Mobile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17830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560320" y="2331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Smartphone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5800" y="297180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CIB/Edahabia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514600" y="297180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1.9M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560320" y="3520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Actifs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des Solutions Concurrentes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46320" y="178308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DF2F2"/>
          </a:solidFill>
          <a:ln w="6350">
            <a:solidFill>
              <a:srgbClr val="F8D7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78308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BlaBlaCar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035040" y="17830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DZD ni de KYC local algérien.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846320" y="2441448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DF2F2"/>
          </a:solidFill>
          <a:ln w="6350">
            <a:solidFill>
              <a:srgbClr val="F8D7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441448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35040" y="244144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à l'urbain; tarifs de VTC élevés.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4846320" y="3099816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DF2F2"/>
          </a:solidFill>
          <a:ln w="6350">
            <a:solidFill>
              <a:srgbClr val="F8D7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099816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Nroho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35040" y="309981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déclaratif (risques); évasion de commissions.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846320" y="3758184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DF2F2"/>
          </a:solidFill>
          <a:ln w="6350">
            <a:solidFill>
              <a:srgbClr val="F8D7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375818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inDrive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35040" y="375818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séquestre SATIM (espèces uniquement).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POSITIONNEMENT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et avantages concurrentiels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822960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129844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d'évaluation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108960" y="129844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(BlaBlaCar)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12080" y="129844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/ Algérie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(Yassir, Nroho)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4CC080">
              <a:alpha val="15000"/>
            </a:srgbClr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03720" y="1298448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RohWinBghit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1892808"/>
            <a:ext cx="8046720" cy="18288"/>
          </a:xfrm>
          <a:prstGeom prst="rect">
            <a:avLst/>
          </a:prstGeom>
          <a:solidFill>
            <a:srgbClr val="E7ECE8"/>
          </a:solidFill>
          <a:ln w="12700">
            <a:solidFill>
              <a:srgbClr val="E7EC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651760"/>
            <a:ext cx="8046720" cy="9144"/>
          </a:xfrm>
          <a:prstGeom prst="rect">
            <a:avLst/>
          </a:prstGeom>
          <a:solidFill>
            <a:srgbClr val="E7ECE8"/>
          </a:solidFill>
          <a:ln w="12700">
            <a:solidFill>
              <a:srgbClr val="E7E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1214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Biométrique Active (CNN)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08960" y="21214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Aucun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12080" y="212140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Manuel différé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1956816"/>
            <a:ext cx="2057400" cy="713232"/>
          </a:xfrm>
          <a:prstGeom prst="rect">
            <a:avLst/>
          </a:prstGeom>
          <a:solidFill>
            <a:srgbClr val="4CC080">
              <a:alpha val="15000"/>
            </a:srgbClr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212140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FastAPI + InsightFace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401568"/>
            <a:ext cx="8046720" cy="9144"/>
          </a:xfrm>
          <a:prstGeom prst="rect">
            <a:avLst/>
          </a:prstGeom>
          <a:solidFill>
            <a:srgbClr val="E7ECE8"/>
          </a:solidFill>
          <a:ln w="12700">
            <a:solidFill>
              <a:srgbClr val="E7E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87121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Séquestre Monétique SATIM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08960" y="287121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CB internationale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287121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Espèces uniquement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58000" y="2706624"/>
            <a:ext cx="2057400" cy="713232"/>
          </a:xfrm>
          <a:prstGeom prst="rect">
            <a:avLst/>
          </a:prstGeom>
          <a:solidFill>
            <a:srgbClr val="4CC080">
              <a:alpha val="15000"/>
            </a:srgbClr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28712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Espèces + CIB/Edahabia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151376"/>
            <a:ext cx="8046720" cy="9144"/>
          </a:xfrm>
          <a:prstGeom prst="rect">
            <a:avLst/>
          </a:prstGeom>
          <a:solidFill>
            <a:srgbClr val="E7ECE8"/>
          </a:solidFill>
          <a:ln w="12700">
            <a:solidFill>
              <a:srgbClr val="E7E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6210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Données (Loi 25-11)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108960" y="362102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Non documenté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212080" y="362102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Non documenté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58000" y="3456432"/>
            <a:ext cx="2057400" cy="713232"/>
          </a:xfrm>
          <a:prstGeom prst="rect">
            <a:avLst/>
          </a:prstGeom>
          <a:solidFill>
            <a:srgbClr val="4CC080">
              <a:alpha val="15000"/>
            </a:srgbClr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3720" y="3621024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Chiffrement AES-256-GCM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437083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Surge Pricing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108960" y="43708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Fixe par siège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12080" y="4370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Dynamique urbain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0" y="4206240"/>
            <a:ext cx="2057400" cy="685800"/>
          </a:xfrm>
          <a:prstGeom prst="rect">
            <a:avLst/>
          </a:prstGeom>
          <a:solidFill>
            <a:srgbClr val="4CC080">
              <a:alpha val="15000"/>
            </a:srgbClr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03720" y="437083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Dynamique inter-wilayas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UP + Scrum &amp; Enquête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1732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Scrum — 5 Sprints de 2 semaines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682496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Unifié (UP) + Scrum agile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95528" y="2231136"/>
            <a:ext cx="36576" cy="201168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1929384"/>
            <a:ext cx="347472" cy="347472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293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" y="1929384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du produit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212140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priorisées par valeur métier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" y="2734056"/>
            <a:ext cx="36576" cy="201168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432304"/>
            <a:ext cx="347472" cy="347472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4323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2432304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Sprint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97280" y="262432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des tâches + estimation Story Points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95528" y="3236976"/>
            <a:ext cx="36576" cy="201168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2935224"/>
            <a:ext cx="347472" cy="347472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9352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" y="2935224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(2 semaines)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97280" y="312724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itératif → livrable fonctionnel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" y="3739896"/>
            <a:ext cx="36576" cy="201168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438144"/>
            <a:ext cx="347472" cy="347472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4381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" y="3438144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&amp; Démonstration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363016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à l’encadrante + feedback intégré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40080" y="3941064"/>
            <a:ext cx="347472" cy="347472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9410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97280" y="3941064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97280" y="413308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du processus à chaque cycle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800600" y="1280160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83480" y="146304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Terrain (N = 150)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983480" y="192024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68% d'étudiants | 72% de 18-25 ans.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Critère décisionnel prioritaire : Sécurité &amp; Confiance (62%) face aux coûts (24%).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71% prêts à fournir des données biométriques pour garantir leur sécurité.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57% réclament un paiement par carte locale (CIB/Edahabia).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TECHNIQUE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travail et stack technologique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4356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481328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3000" y="13441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43000" y="158191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 / TypeScript pour le client mobile unique cross-platform iOS &amp; Android.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233172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6928" y="253288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43000" y="24414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&amp; Express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143000" y="267919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API REST modulaire configuré en couches découplées (SRP, OCP).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457200" y="342900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66928" y="36301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675888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43000" y="3538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Python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143000" y="377647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IA isolé pour le traitement asynchrone d'InsightFace, ArcFace et liveness.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800600" y="123444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910328" y="14356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148132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86400" y="13441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5486400" y="158191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SGBD relationnel robuste gérant la concurrence d'accès par locks pessimistes FOR UPDATE.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800600" y="233172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10328" y="253288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578608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486400" y="24414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 &amp; Socket.io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486400" y="267919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(cache sessions et queues BullMQ), Socket.io (suivi GPS et messagerie temps réel).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4800600" y="342900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910328" y="36301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675888"/>
            <a:ext cx="365760" cy="36576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486400" y="3538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EAS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5486400" y="377647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Dockerisation complète des services backend + Expo Application Services (compilations).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BESOINS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Spécification des Besoins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sont les besoins 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BESOINS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des acteurs du système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417320"/>
            <a:ext cx="457200" cy="45720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472184"/>
            <a:ext cx="347472" cy="34747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3000" y="1508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Passager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les trajets inter-wilayas, effectue les réservations, paye en ligne (CIB/Edahabia) et valide l'embarquement.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9184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1417320"/>
            <a:ext cx="457200" cy="45720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1472184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77640" y="1508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Conducteur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2900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 son véhicule, soumet ses documents, publie ses trajets et transporte les passagers.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12648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63640" y="1417320"/>
            <a:ext cx="457200" cy="45720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472184"/>
            <a:ext cx="347472" cy="34747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12280" y="15087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 l'activité, résout les litiges financiers, et valide manuellement les KYC en attente de revue.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94360" y="361188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666744"/>
            <a:ext cx="301752" cy="3017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97280" y="36576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KYC (Interne)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097280" y="38862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IA FastAPI chargé des inférences asynchrones d'anti-spoofing et de comparaison faciale.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66344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00600" y="361188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666744"/>
            <a:ext cx="301752" cy="3017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303520" y="36576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SATIM / Algérie Poste (Externe)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303520" y="38862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Passerelle monétique nationale traitant les flux de paiement sécurisés CIB et Edahabia.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BESOINS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 des charges : Spécifications et contraintes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4356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Fonctionnelles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18288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Authentification SMS OTP : Inscription instantanée sécurisée sans mot de passe.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KYC Biométrique : Vérification d'identité et de vivacité active par IA.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Moteur de Recherche Géographique : Indexation spatiale des trajets sur 69 wilayas.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Séquestre Monétique : Verrouillage financier CIB/Edahabia jusqu'à validation.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Tracking GPS &amp; Chat temps réel : Socket.io pour la coordination du covoiturage.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03520" y="14356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Techniques &amp; Qualité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846320" y="18288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&amp; Confidentialité : Chiffrement AES-256-GCM des pièces d'identité et conformité stricte à la Loi 25-11.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 &amp; Latence : Temps de réponse API p95 &lt; 200 ms et inférence du KYC biométrique &lt; 3 secondes.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Robustesse Réseau : Cache persistant SQLite/AsyncStorage pour tolérer les zones blanches 4G sur autoroute.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Scalabilité : Services sans état conteneurisés Docker et files d'attente Redis / BullMQ.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BESOINS (UML)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cas d'utilisation global (Consolidé)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97280" y="1188720"/>
            <a:ext cx="69494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0" name="Image 0" descr="/Users/mohamed/Downloads/RohWinBghit_LaTeX_Complet/plantuml/output/fig_use_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280160"/>
            <a:ext cx="67665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Conception &amp; Architecture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sont les concepts 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 &amp; déploiement physique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685800"/>
          </a:xfrm>
          <a:prstGeom prst="roundRect">
            <a:avLst>
              <a:gd name="adj" fmla="val 8000"/>
            </a:avLst>
          </a:prstGeom>
          <a:solidFill>
            <a:srgbClr val="0A1F14">
              <a:alpha val="35000"/>
            </a:srgbClr>
          </a:solidFill>
          <a:ln w="15240">
            <a:solidFill>
              <a:srgbClr val="4CC0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325880"/>
            <a:ext cx="38770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📱 CLIENTS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1481328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(React Native / Expo SDK 54)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48640" y="1627632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 d'Administration (React / Vite)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0A1F14">
              <a:alpha val="30000"/>
            </a:srgbClr>
          </a:solidFill>
          <a:ln w="15240">
            <a:solidFill>
              <a:srgbClr val="4CC0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075688"/>
            <a:ext cx="38770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⚙️ BACKEND principal (Express.js)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48640" y="2231136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Passerelle API, routage géographique, surge pricing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48640" y="23774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PaymentFactory (CIB, Edahabia, Cash)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48640" y="2523744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asynchrones avec BullMQ 5.71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4023360" cy="685800"/>
          </a:xfrm>
          <a:prstGeom prst="roundRect">
            <a:avLst>
              <a:gd name="adj" fmla="val 8000"/>
            </a:avLst>
          </a:prstGeom>
          <a:solidFill>
            <a:srgbClr val="0A1F14">
              <a:alpha val="35000"/>
            </a:srgbClr>
          </a:solidFill>
          <a:ln w="15240">
            <a:solidFill>
              <a:srgbClr val="4CC0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108960"/>
            <a:ext cx="38770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SERVICE IA (FastAPI)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48640" y="3264408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 d'InsightFace (buffalo_l)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8640" y="3410712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Vivacité active &amp; détection anti-spoofing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382219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0A1F14">
              <a:alpha val="30000"/>
            </a:srgbClr>
          </a:solidFill>
          <a:ln w="1524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867912"/>
            <a:ext cx="38770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💾 PERSISTANCE &amp; CACHE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48640" y="402336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(verrous ACID FOR UPDATE)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48640" y="4169664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 (cache de session et BullMQ queues)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Physique Conteneurisé</a:t>
            </a:r>
            <a:endParaRPr lang="en-US" sz="1300" dirty="0"/>
          </a:p>
        </p:txBody>
      </p:sp>
      <p:pic>
        <p:nvPicPr>
          <p:cNvPr id="28" name="Image 0" descr="/Users/mohamed/Downloads/RohWinBghit_LaTeX_Complet/figures/fig_deploy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783080"/>
            <a:ext cx="384048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 (IA)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mathématique et décisionnel du KYC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41732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Extraction OCR de la CIN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 la présence de la carte d'identité, contrôle de format et extraction du nom/prénom.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91840" y="128016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141732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2900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Comparaison faciale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2900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d'embeddings faciaux à 512 dimensions par ArcFace (buffalo_l) et calcul de la distance cosinus.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126480" y="128016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63640" y="141732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Détection de vivacité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active de la présence physique (anti-spoofing) par analyse du mouvement (flux vidéo).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0080" y="3657600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STRATÉGIE MULTI-SEUILS BIOMÉTRIQUES DIFFÉRENCIÉE PAR RÔLE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 Conducteur (Criticité Haute) : Identité &gt;= 0.65 | Vivacité &gt;= 0.70 | Anti-spoofing &gt;= 0.75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 Passager (Criticité Moyenne) : Identité &gt;= 0.60 | Vivacité &gt;= 0.60 | Anti-spoofing &gt;= 0.60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 (UML)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 Inscription &amp; Validation OTP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371600" y="1188720"/>
            <a:ext cx="6400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0" name="Image 0" descr="/Users/mohamed/Downloads/RohWinBghit_LaTeX_Complet/plantuml/output/fig_sequence_inscrip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280160"/>
            <a:ext cx="621792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 (UML)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 Réservation avec Séquestre Monétique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0" name="Image 0" descr="/Users/mohamed/Downloads/RohWinBghit_LaTeX_Complet/plantuml/output/fig_sequence_boo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804672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RÉALISATION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Réalisation &amp; Sécurité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 faire 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RÉALISATION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Scrum &amp; Résolution des Défis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de Réalisation (5 Sprints)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2075688"/>
            <a:ext cx="27432" cy="2560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783080"/>
            <a:ext cx="320040" cy="32004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97280" y="1783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&amp; Setup : Monorepo, schéma 3NF, API REST.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04672" y="2606040"/>
            <a:ext cx="27432" cy="2560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313432"/>
            <a:ext cx="320040" cy="32004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134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97280" y="23134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 : Publication, recherche wilayas, chat.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4672" y="3136392"/>
            <a:ext cx="27432" cy="2560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843784"/>
            <a:ext cx="320040" cy="32004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4378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" y="284378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: Pipeline FastAPI, ArcFace, vivacité.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4672" y="3666744"/>
            <a:ext cx="27432" cy="2560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3374136"/>
            <a:ext cx="320040" cy="32004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37413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7280" y="337413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Monétique : Sandbox SATIM, PaymentFactory, surge.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58368" y="3904488"/>
            <a:ext cx="320040" cy="32004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390448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7280" y="39044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: Console admin, 151 tests Jest.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Défis Rencontrés &amp; Solutions Injectées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17830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18288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Déconnexions 4G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56048" y="20391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Caching SQLite &amp; AsyncStorage + requêtes HTTP idempotentes.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846320" y="26974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56048" y="27432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Double Réservation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56048" y="29535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Verrou pessimiste SELECT FOR UPDATE ACID PostgreSQL.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4846320" y="36118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56048" y="36576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Évasion Commission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56048" y="38679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Mécanisme de séquestre monétique SATIM bloquant les fonds.</a:t>
            </a:r>
            <a:endParaRPr lang="en-US" sz="8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RÉALISATION (MOBILE)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l'application mobile (Passager)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96696" y="1389888"/>
            <a:ext cx="1572768" cy="3182112"/>
          </a:xfrm>
          <a:prstGeom prst="roundRect">
            <a:avLst>
              <a:gd name="adj" fmla="val 581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0" name="Image 0" descr="/Users/mohamed/Downloads/RohWinBghit_LaTeX_Complet/Screen_mobile/Scre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435608"/>
            <a:ext cx="1481328" cy="309067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508760" y="1490472"/>
            <a:ext cx="548640" cy="137160"/>
          </a:xfrm>
          <a:prstGeom prst="roundRect">
            <a:avLst>
              <a:gd name="adj" fmla="val 5333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62072" y="1389888"/>
            <a:ext cx="1572768" cy="3182112"/>
          </a:xfrm>
          <a:prstGeom prst="roundRect">
            <a:avLst>
              <a:gd name="adj" fmla="val 581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1" descr="/Users/mohamed/Downloads/RohWinBghit_LaTeX_Complet/Screen_mobile/Scree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435608"/>
            <a:ext cx="1481328" cy="30906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74136" y="1490472"/>
            <a:ext cx="548640" cy="137160"/>
          </a:xfrm>
          <a:prstGeom prst="roundRect">
            <a:avLst>
              <a:gd name="adj" fmla="val 5333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55464" y="1554480"/>
            <a:ext cx="357530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10912" y="169164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2" y="17373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691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OTP &amp; KYC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010912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d'accueil fluide sans mot de passe, suivi d'un contrôle d'identité de l'utilisateur par scan et vivacité faciale.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855464" y="3017520"/>
            <a:ext cx="357530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010912" y="3154680"/>
            <a:ext cx="411480" cy="4114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20040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3212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&amp; Matching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010912" y="36576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Appariement dynamique de l'offre et de la demande inter-wilayas avec des calculs d'itinéraires et d'ETA exacts.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RÉALISATION (WEB)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d'Administration Web (React 18 / Vite)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3891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7ECE8"/>
            </a:solidFill>
            <a:prstDash val="solid"/>
          </a:ln>
        </p:spPr>
      </p:sp>
      <p:pic>
        <p:nvPicPr>
          <p:cNvPr id="10" name="Image 0" descr="/Users/mohamed/Downloads/RohWinBghit_LaTeX_Complet/figures/v2_landing_p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4206240" cy="3108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120640" y="12801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0" y="1463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de supervision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303520" y="1920240"/>
            <a:ext cx="32004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Modération KYC : File d'attente manuelle pour dossiers litigieux avec affichage comparé de la CIN, selfie et scores d'IA.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Gestion financière : Suivi des portefeuilles et libération du séquestre de paiement SATIM.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Administration du trafic : Modération des publications de trajets et exclusion des comptes signalés.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RÉALISATION (SÉCURITÉ)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Sécurisation et conformité réglementaire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OWASP Top 10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systématique : injections (Knex.js ORM), XSS (JSX escaping), failles d'authentification (tokens JWT signés et chiffrés).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329184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3736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AES-256-GCM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42900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Loi 25-11 relative à la protection des données personnelles. Les images de CIN et embeddings d'identités sont chiffrés au repos.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12648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1645920"/>
            <a:ext cx="640080" cy="640080"/>
          </a:xfrm>
          <a:prstGeom prst="ellipse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7373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792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Active de Vivacité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301752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d'authentification contre les attaques par rejeu de photographies ou d'écrans vidéo lors de la connexion.</a:t>
            </a:r>
            <a:endParaRPr lang="en-US" sz="9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DÉMONSTRATION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Démonstration du Prototype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ça ressemble 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DÉMONSTRATION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de réservation en direct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371600"/>
            <a:ext cx="1463040" cy="2011680"/>
          </a:xfrm>
          <a:prstGeom prst="roundRect">
            <a:avLst>
              <a:gd name="adj" fmla="val 312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1" name="Image 0" descr="/Users/mohamed/Downloads/RohWinBghit_LaTeX_Complet/Screen_mobile/Passager réser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399032"/>
            <a:ext cx="1408176" cy="195681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34747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Réservation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70332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passager sélectionne son trajet et valide le mode de paiement.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3291840" y="12801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86200" y="1371600"/>
            <a:ext cx="1463040" cy="2011680"/>
          </a:xfrm>
          <a:prstGeom prst="roundRect">
            <a:avLst>
              <a:gd name="adj" fmla="val 312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6" name="Image 1" descr="/Users/mohamed/Downloads/RohWinBghit_LaTeX_Complet/Screen_mobile/Trajet publié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399032"/>
            <a:ext cx="1408176" cy="195681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34747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Notification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3383280" y="370332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conducteur reçoit une alerte push contenant la demande d'embarquement.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6126480" y="12801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720840" y="1371600"/>
            <a:ext cx="1463040" cy="2011680"/>
          </a:xfrm>
          <a:prstGeom prst="roundRect">
            <a:avLst>
              <a:gd name="adj" fmla="val 312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1" name="Image 2" descr="/Users/mohamed/Downloads/RohWinBghit_LaTeX_Complet/Screen_mobile/QR scanné au dépar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399032"/>
            <a:ext cx="1408176" cy="195681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7920" y="34747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Scan &amp; Départ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217920" y="370332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conducteur scanne le billet QR cryptographique du passager au départ.</a:t>
            </a:r>
            <a:endParaRPr lang="en-US" sz="9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Validation &amp; Business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résultats obtenus ?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unitaires, d'intégration et d'utilisabilité (SUS)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4813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 Jest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1920240"/>
            <a:ext cx="35204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151 Cas de tests exécutés avec succès.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107 Tests Unitaires isolés validant la logique métier à 100% de réussite.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44 Tests d'Intégration validant les intéractions DB/Redis/BullMQ (90.9% de réussite).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Taux de réussite global de la suite de tests : 97.4 %.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0600" y="1280160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6304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40680" y="14813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d'Utilisabilité (SUS)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83480" y="1920240"/>
            <a:ext cx="35204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Menée auprès de 18 usagers réels (étudiants et conducteurs).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Global SUS de 71.6 / 100.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Bangor classification : Usabilité qualifiée de « Bonne » (seuil &gt;= 68).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Passagers : 74.2 / 100.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Conducteurs : 68.9 / 100 (friction KYC justifiant l'ajout de tutoriels).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(Synthèse 9 Blocs)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1609344" cy="2286000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30759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PARTENAIRES CLÉS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30352" y="1490472"/>
            <a:ext cx="1463040" cy="1975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SATIM &amp; GIE Monétique.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Incubateur Université Tlemcen.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Hetzner (hébergement).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Médias universitaires.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112264" y="1234440"/>
            <a:ext cx="1609344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85416" y="130759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ACTIVITÉS CLÉS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185416" y="1490472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 et maintenance API.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Revue manuelle KYC.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 &amp; médiation.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2112264" y="2404872"/>
            <a:ext cx="1609344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85416" y="2478024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RESSOURCES CLÉS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85416" y="2660904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IA InsightFace.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Serveur PostgreSQL/Redis.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Marque INAPI &amp; ONDA.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767328" y="1234440"/>
            <a:ext cx="1609344" cy="2286000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30759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VALEUR AJOUTÉE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40480" y="1490472"/>
            <a:ext cx="1463040" cy="1975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Covoiturage inter-wilayas sécurisé.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KYC biométrique active.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Intégration CIB/Edahabia.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Indemnisations.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422392" y="1234440"/>
            <a:ext cx="1609344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95544" y="130759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RELATIONS CLIENTS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95544" y="1490472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 client in-app.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Système d'évaluation.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Processus KYC autonome.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5422392" y="2404872"/>
            <a:ext cx="1609344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95544" y="2478024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CANAUX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95544" y="2660904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Store &amp; Play Store.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Groupes universitaires.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Réseaux sociaux.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077456" y="1234440"/>
            <a:ext cx="1609344" cy="2286000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50608" y="130759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SEGMENTS CLIENTS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50608" y="1490472"/>
            <a:ext cx="1463040" cy="1975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Passagers : étudiants, travailleurs pendulaires.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Conducteurs : navetteurs réguliers cherchant à amortir leurs frais.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457200" y="3566160"/>
            <a:ext cx="4087368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3639312"/>
            <a:ext cx="3941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 DE COÛTS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0352" y="3822192"/>
            <a:ext cx="3941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Consommation API cartographique Mapbox.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Serveur Cloud &amp; base de données. Consommation API SMS OTP.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Masse salariale et budget marketing.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4599432" y="3566160"/>
            <a:ext cx="4087368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3639312"/>
            <a:ext cx="3941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3A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DE REVENUS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72584" y="3822192"/>
            <a:ext cx="3941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Commission logicielle 12% par siège réservé (8% en bêta).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Abonnement Premium conducteurs (1 500 DZD/mois).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Publicité locale ciblée in-app (CPM 2 000 DZD).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Abonnements B2B.</a:t>
            </a:r>
            <a:endParaRPr lang="en-US" sz="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MONÉTISATION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revenus et monétisation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" y="16733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sur trajets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43000" y="1673352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service de 12% par siège réservé (8% en phase bêta pour stimuler l'adoption initiale).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170432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73752" y="16733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171907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89204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 Premium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577840" y="1673352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1 500 DZD / mois pour les conducteurs : visibilité accrue des trajets, badges de confiance et statistiques avancées.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274320" y="2971800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38912" y="34747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52044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57200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Partenariats B2B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143000" y="3474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les universités, entreprises et hôtels locaux pour proposer des solutions de covoiturage groupé.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709160" y="2971800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73752" y="34747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352044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892040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Publicité in-app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577840" y="3474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Publicité ciblée pour les commerces locaux le long des itinéraires, basée sur un modèle de CPM à 2 000 DZD.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Prévisions financières &amp; conformité Arrêté 1275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4356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Viabilité Financière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18288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Coûts Année 1 : 15 455 000 DZD (équipe principale 9.6M, acquisition marketing 2.4M, cloud/SMS 1.6M).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Projections de revenus : A1 = 6.7M DZD | A3 = 92M DZD.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Seuil de rentabilité (Break-even) : Atteint début Q2 de l'Année 2.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Lifetime Value / CAC : Ratio LTV/CAC exceptionnel de 19x.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Bénéfice net cumulé sur 36 mois : &gt; 52M DZD.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03520" y="14356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Arrêté 1275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846320" y="18288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Labellisation Startup : Projet conçu pour l'accréditation nationale « Un diplôme, une Startup » par l'incubateur de Tlemcen.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Propriété Intellectuelle (INAPI) : Dépôt officiel de la marque 'RohWinBghit' finalisé.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Logique (ONDA) : Code source Express/FastAPI et modèles convolutifs d'anti-spoofing enregistrés et protégés.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Structure Commerciale : SARL en cours de constitution pour exploiter le prototype.</a:t>
            </a:r>
            <a:endParaRPr lang="en-US" sz="9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35/37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731520" cy="73152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280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Conclusion &amp; Perspectives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657600" y="301752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Apports et perspectives ?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36/37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général et perspectives futures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Contributions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Génie Logiciel : Architecture distribuée résiliente aux pertes 4G (taux de succès de 99.9% sous instabilité réseau).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Biométrique : Modèles d'IA active d'anti-spoofing éliminant le vol d'identité en ligne.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Faisabilité Commerciale : Viabilité économique validée par business plan Arrêté 1275 et score SUS de 71.6.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d'Évolution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46320" y="17830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8288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Court Terme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56048" y="20391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sur l'axe Tlemcen-Oran-Alger &amp; labellisation Startup d'État.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846320" y="26974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56048" y="27432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Moyen Terme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56048" y="29535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de Surge Pricing avancée et partenariats B2B avec les universités.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846320" y="3611880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F5F1E8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3657600"/>
            <a:ext cx="34381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Long Terme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56048" y="3867912"/>
            <a:ext cx="3438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nationale sur les 58 wilayas, puis à l'échelle de la zone MENA.</a:t>
            </a:r>
            <a:endParaRPr lang="en-US" sz="88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37/37</a:t>
            </a:r>
            <a:endParaRPr lang="en-US" sz="900" dirty="0"/>
          </a:p>
        </p:txBody>
      </p:sp>
      <p:pic>
        <p:nvPicPr>
          <p:cNvPr id="8" name="Image 0" descr="/Users/mohamed/Downloads/RohWinBghit_LaTeX_Complet/Screen_mobil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914400"/>
            <a:ext cx="1005840" cy="1005840"/>
          </a:xfrm>
          <a:prstGeom prst="rect">
            <a:avLst/>
          </a:prstGeom>
        </p:spPr>
      </p:pic>
      <p:pic>
        <p:nvPicPr>
          <p:cNvPr id="9" name="Image 1" descr="/Users/mohamed/Downloads/RohWinBghit_LaTeX_Complet/Screen_mobile/logo_b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26187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55464" y="1261872"/>
            <a:ext cx="1856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RohWinBghit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0" y="2148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attention. Place aux questions / réponses.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280160" y="333756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280160" y="3575304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BACHA Djamel Eddine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280160" y="3831336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BELHORMA Sidi Mohammed Reduane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62856" y="3429000"/>
            <a:ext cx="9144" cy="50292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55464" y="333756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55464" y="3575304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Mme BENLEDGHEM Rafika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855464" y="3831336"/>
            <a:ext cx="29992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5F1E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 d'Informatique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5F1E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de Tlemcen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0" y="4425696"/>
            <a:ext cx="9144000" cy="7132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0" y="4425696"/>
            <a:ext cx="9144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le mémoire complet ou une démonstration en direct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RohWinBghit — Présentation de Soutenance Master</dc:title>
  <dc:subject>PptxGenJS Presentation</dc:subject>
  <dc:creator>AHMED BACHA Djamel Eddine &amp; BELHORMA Sidi Mohammed Reduane</dc:creator>
  <cp:lastModifiedBy>AHMED BACHA Djamel Eddine &amp; BELHORMA Sidi Mohammed Reduane</cp:lastModifiedBy>
  <cp:revision>1</cp:revision>
  <dcterms:created xsi:type="dcterms:W3CDTF">2026-06-04T19:34:15Z</dcterms:created>
  <dcterms:modified xsi:type="dcterms:W3CDTF">2026-06-04T19:34:15Z</dcterms:modified>
</cp:coreProperties>
</file>