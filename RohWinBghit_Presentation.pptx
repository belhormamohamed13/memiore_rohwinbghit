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image" Target="../media/image-2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63F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DÉBUT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A1F14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01/31</a:t>
            </a:r>
            <a:endParaRPr lang="en-US" sz="900" dirty="0"/>
          </a:p>
        </p:txBody>
      </p:sp>
      <p:pic>
        <p:nvPicPr>
          <p:cNvPr id="8" name="Image 0" descr="/Users/mohamed/Downloads/RohWinBghit_LaTeX_Complet/Screen_mobile/univ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5384" y="676656"/>
            <a:ext cx="713232" cy="713232"/>
          </a:xfrm>
          <a:prstGeom prst="rect">
            <a:avLst/>
          </a:prstGeom>
        </p:spPr>
      </p:pic>
      <p:pic>
        <p:nvPicPr>
          <p:cNvPr id="9" name="Image 1" descr="/Users/mohamed/Downloads/RohWinBghit_LaTeX_Complet/Screen_mobile/logo_b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536" y="1673352"/>
            <a:ext cx="713232" cy="7132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62072" y="1600200"/>
            <a:ext cx="5029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RohWinBghit — روح وين بغيت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mobile multiplateforme intelligente de covoiturage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inter-wilayas sécurisée adaptée au contexte algérien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 Master en Génie Logiciel — Arrêté 1275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Abou Bekr Belkaïd — Tlemcen — Année 2024/2025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AHMED BACHA Djamel Eddine &amp; BELHORMA Sidi Mohammed Reduane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Mme BENLEDGHEM Rafika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  •   SÛR   •   ABORDABLE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DE LA PRÉSENTATION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76200" dist="12700" dir="8100000">
              <a:srgbClr val="0A1F14">
                <a:alpha val="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103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Problématique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problème, hypothèses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68880" y="14173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76200" dist="12700" dir="8100000">
              <a:srgbClr val="0A1F14">
                <a:alpha val="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0320" y="2103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Cadre Légal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423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Concurrence, Loi 25-11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26280" y="14173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76200" dist="12700" dir="8100000">
              <a:srgbClr val="0A1F14">
                <a:alpha val="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5780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17720" y="2103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&amp; Architecture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2423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Agile, Stack, KYC, Architecture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83680" y="14173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76200" dist="12700" dir="8100000">
              <a:srgbClr val="0A1F14">
                <a:alpha val="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5120" y="2103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Modélisation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2423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Case, Classes, Déploiement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440180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76200" dist="12700" dir="8100000">
              <a:srgbClr val="0A1F14">
                <a:alpha val="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17170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717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31620" y="3657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Validation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31620" y="3977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Jest, SUS, Hypothèses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97580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76200" dist="12700" dir="8100000">
              <a:srgbClr val="0A1F14">
                <a:alpha val="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2910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291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589020" y="3657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89020" y="3977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BMC, Revenus, IP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54980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76200" dist="12700" dir="8100000">
              <a:srgbClr val="0A1F14">
                <a:alpha val="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8650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65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646420" y="3657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46420" y="3977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Évolutions futures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63F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 &amp; PROBLÉMATIQUE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A1F14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03/31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1463040"/>
            <a:ext cx="1828800" cy="1828800"/>
          </a:xfrm>
          <a:prstGeom prst="ellipse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  <a:effectLst>
            <a:outerShdw sx="100000" sy="100000" kx="0" ky="0" algn="bl" rotWithShape="0" blurRad="152400" dist="38100" dir="108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14630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1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840480" y="16459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Problématique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840480" y="2743200"/>
            <a:ext cx="2743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? Quand ? Dans quel contexte 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Mobilité Inter-Wilayas en Algérie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réseau routier de 112 696 km reliant 69 wilayas,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aucune plateforme numérique dédiée au covoiturage longue distance.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0574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19456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2697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3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6.3M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85800" y="3127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se déplaçant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wilayas chaque année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520440" y="20574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945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0440" y="2697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3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3520440" y="3127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Déplacements inter-wilayas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transports informels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355080" y="20574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1945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2697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3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21" name="Text 16"/>
          <p:cNvSpPr/>
          <p:nvPr/>
        </p:nvSpPr>
        <p:spPr>
          <a:xfrm>
            <a:off x="6355080" y="3127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 KYC dédiées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trajets longue distance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85800" y="379476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0F3A23"/>
          </a:solidFill>
          <a:ln w="6350">
            <a:solidFill>
              <a:srgbClr val="166E3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85800" y="3794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Risques : Aucune vérification d'identité • Paiement en espèces uniquement • Groupes Facebook non sécurisés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PROBLÉMATIQUE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de Confiance &amp; Sécurité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7772400" cy="1097280"/>
          </a:xfrm>
          <a:prstGeom prst="roundRect">
            <a:avLst>
              <a:gd name="adj" fmla="val 8333"/>
            </a:avLst>
          </a:prstGeom>
          <a:solidFill>
            <a:srgbClr val="0F3A23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417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CENTRALE DE RECHERCHE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6916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concevoir une plateforme de covoiturage inter-wilayas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intégrant un pipeline biométrique KYC pour garantir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confiance et la sécurité des utilisateurs 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" y="325526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300984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283464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051560" y="3044952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 l'identité réelle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conducteurs et passagers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606040" y="27432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15768" y="325526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3300984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154680" y="283464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3154680" y="3044952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du paiement local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(SATIM, Edahabia, CIB)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709160" y="27432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818888" y="325526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3300984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57800" y="283464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257800" y="3044952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API tolérante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pannes (99%+ uptime)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812280" y="27432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922008" y="325526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330098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60920" y="2834640"/>
            <a:ext cx="1307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7360920" y="3044952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Desservir les 69 wilayas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une UX fluide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HYPOTHÈSES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Hypothèses de Travail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7772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76200" dist="12700" dir="8100000">
              <a:srgbClr val="0A1F14">
                <a:alpha val="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00200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057400" y="1527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Biométrique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46320" y="155448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15544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057400" y="182880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d'IA combinant OCR, ArcFace et détection de vivacité peut vérifier l'identité des utilisateurs avec un seuil de confiance ≥ 0.65 (conducteurs) et ≥ 0.60 (passagers).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5800" y="2560320"/>
            <a:ext cx="7772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76200" dist="12700" dir="8100000">
              <a:srgbClr val="0A1F14">
                <a:alpha val="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68680" y="2697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1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74320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05740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Usabilité Mobile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846320" y="269748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46320" y="26974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PROTOTYPAGE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057400" y="297180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mobile obtient un score SUS ≥ 68/100, validant une expérience utilisateur de qualité « Good » selon les standards ISO.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85800" y="3703320"/>
            <a:ext cx="7772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76200" dist="12700" dir="8100000">
              <a:srgbClr val="0A1F14">
                <a:alpha val="4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68680" y="3840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86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18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3886200"/>
            <a:ext cx="411480" cy="4114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2057400" y="3813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 API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4846320" y="384048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846320" y="38404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SOLVABILITÉ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2057400" y="411480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L'architecture microservices avec circuit breaker, retry patterns et health checks maintient un taux de disponibilité ≥ 99%.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63F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CONTEXTE &amp; CADRE LÉGAL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A1F14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07/31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1463040"/>
            <a:ext cx="1828800" cy="1828800"/>
          </a:xfrm>
          <a:prstGeom prst="ellipse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  <a:effectLst>
            <a:outerShdw sx="100000" sy="100000" kx="0" ky="0" algn="bl" rotWithShape="0" blurRad="152400" dist="38100" dir="108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14630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1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840480" y="16459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Cadre Légal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840480" y="2743200"/>
            <a:ext cx="2743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marché ? Quelle réglementation 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Concurrentielle : Les Gaps du Marché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645920" cy="457200"/>
          </a:xfrm>
          <a:prstGeom prst="rect">
            <a:avLst/>
          </a:prstGeom>
          <a:solidFill>
            <a:srgbClr val="0F3A23"/>
          </a:solidFill>
          <a:ln w="6350">
            <a:solidFill>
              <a:srgbClr val="166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1371600"/>
            <a:ext cx="1188720" cy="457200"/>
          </a:xfrm>
          <a:prstGeom prst="rect">
            <a:avLst/>
          </a:prstGeom>
          <a:solidFill>
            <a:srgbClr val="0F3A23"/>
          </a:solidFill>
          <a:ln w="6350">
            <a:solidFill>
              <a:srgbClr val="166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BlaBlaCar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1005840" cy="457200"/>
          </a:xfrm>
          <a:prstGeom prst="rect">
            <a:avLst/>
          </a:prstGeom>
          <a:solidFill>
            <a:srgbClr val="0F3A23"/>
          </a:solidFill>
          <a:ln w="6350">
            <a:solidFill>
              <a:srgbClr val="166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371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Yassir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371600"/>
            <a:ext cx="1005840" cy="457200"/>
          </a:xfrm>
          <a:prstGeom prst="rect">
            <a:avLst/>
          </a:prstGeom>
          <a:solidFill>
            <a:srgbClr val="0F3A23"/>
          </a:solidFill>
          <a:ln w="6350">
            <a:solidFill>
              <a:srgbClr val="166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1371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Nroho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1371600"/>
            <a:ext cx="1005840" cy="457200"/>
          </a:xfrm>
          <a:prstGeom prst="rect">
            <a:avLst/>
          </a:prstGeom>
          <a:solidFill>
            <a:srgbClr val="0F3A23"/>
          </a:solidFill>
          <a:ln w="6350">
            <a:solidFill>
              <a:srgbClr val="166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371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inDrive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371600"/>
            <a:ext cx="1920240" cy="457200"/>
          </a:xfrm>
          <a:prstGeom prst="rect">
            <a:avLst/>
          </a:prstGeom>
          <a:solidFill>
            <a:srgbClr val="0F3A23"/>
          </a:solidFill>
          <a:ln w="6350">
            <a:solidFill>
              <a:srgbClr val="166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RohWinBghit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18288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Biométrique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94560" y="18288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4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83280" y="182880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4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89120" y="182880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4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94960" y="182880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4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1828800"/>
            <a:ext cx="192024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ArcFace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22860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Local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194560" y="22860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94560" y="2286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4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(CB EU)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83280" y="228600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2286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89120" y="228600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0" y="2286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4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94960" y="228600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0" y="2286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Espèces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00800" y="2286000"/>
            <a:ext cx="192024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SATIM/CIB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27432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Inter-Wilayas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194560" y="27432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456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4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383280" y="274320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2743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4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(Urbain)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389120" y="274320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0" y="2743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394960" y="274320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94960" y="2743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4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400800" y="2743200"/>
            <a:ext cx="192024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0" y="2743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69 wilayas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48640" y="32004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3200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Mutuelle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194560" y="32004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194560" y="3200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383280" y="320040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83280" y="3200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389120" y="320040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89120" y="3200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4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394960" y="320040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94960" y="3200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400800" y="3200400"/>
            <a:ext cx="192024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+QR Code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48640" y="36576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3657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194560" y="36576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94560" y="3657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4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383280" y="365760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83280" y="3657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4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389120" y="365760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89120" y="3657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4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394960" y="365760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94960" y="3657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4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400800" y="3657600"/>
            <a:ext cx="192024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00800" y="3657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85800" y="3886200"/>
            <a:ext cx="7772400" cy="594360"/>
          </a:xfrm>
          <a:prstGeom prst="roundRect">
            <a:avLst>
              <a:gd name="adj" fmla="val 12308"/>
            </a:avLst>
          </a:prstGeom>
          <a:solidFill>
            <a:srgbClr val="0F3A23"/>
          </a:solidFill>
          <a:ln w="6350">
            <a:solidFill>
              <a:srgbClr val="4CC08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85800" y="3886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RohWinBghit est la seule plateforme combinant KYC biométrique + paiement local + couverture 69 wilayas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Réglementaire : Loi 25-11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des données personnelles dans le contexte algérien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17830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95528" y="20436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89404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4440" y="1874520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 Explicite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234440" y="2084832"/>
            <a:ext cx="299923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 données uniquement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accord utilisateur (Art. 7)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17720" y="17830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27448" y="20436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089404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66360" y="1874520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AES-256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166360" y="2084832"/>
            <a:ext cx="299923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biométriques stockées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chiffrées côté serveur (Art. 42)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85800" y="283464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95528" y="309524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14096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34440" y="2926080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à l'Effacement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1234440" y="3136392"/>
            <a:ext cx="299923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données sur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 l'utilisateur (Art. 34)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617720" y="283464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27448" y="309524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14096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166360" y="2926080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Local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166360" y="3136392"/>
            <a:ext cx="299923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transfert transfrontalier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cadre légal (Art. 44)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85800" y="4023360"/>
            <a:ext cx="7772400" cy="502920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 w="6350">
            <a:solidFill>
              <a:srgbClr val="166E3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85800" y="4023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RohWinBghit est conçu en conformité totale avec la Loi 25-11 et les principes GDPR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63F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MÉTHODOLOGIE &amp; 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A1F14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10/31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1463040"/>
            <a:ext cx="1828800" cy="1828800"/>
          </a:xfrm>
          <a:prstGeom prst="ellipse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  <a:effectLst>
            <a:outerShdw sx="100000" sy="100000" kx="0" ky="0" algn="bl" rotWithShape="0" blurRad="152400" dist="38100" dir="108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14630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1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840480" y="16459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&amp; Architecture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840480" y="2743200"/>
            <a:ext cx="2743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? Avec quelles technologies 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MÉTHODOLOGIE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Agile : 5 Sprints en 10 Semaines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85800" y="1508760"/>
            <a:ext cx="7772400" cy="73152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1399032"/>
            <a:ext cx="274320" cy="274320"/>
          </a:xfrm>
          <a:prstGeom prst="ellipse">
            <a:avLst/>
          </a:prstGeom>
          <a:solidFill>
            <a:srgbClr val="166E3A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399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192024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Profils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23591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1-2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1560" y="269748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6974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SP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880360" y="1399032"/>
            <a:ext cx="274320" cy="274320"/>
          </a:xfrm>
          <a:prstGeom prst="ellipse">
            <a:avLst/>
          </a:prstGeom>
          <a:solidFill>
            <a:srgbClr val="166E3A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1399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192024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Trajets &amp; Réservation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86000" y="23591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3-4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06040" y="269748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26974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SP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34840" y="1399032"/>
            <a:ext cx="274320" cy="274320"/>
          </a:xfrm>
          <a:prstGeom prst="ellipse">
            <a:avLst/>
          </a:prstGeom>
          <a:solidFill>
            <a:srgbClr val="0F3A23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1399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0" y="192024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KYC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40480" y="23591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5-6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60520" y="269748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26974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89320" y="1399032"/>
            <a:ext cx="274320" cy="274320"/>
          </a:xfrm>
          <a:prstGeom prst="ellipse">
            <a:avLst/>
          </a:prstGeom>
          <a:solidFill>
            <a:srgbClr val="166E3A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1399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94960" y="192024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&amp; QR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94960" y="23591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7-8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15000" y="269748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15000" y="26974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SP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543800" y="1399032"/>
            <a:ext cx="274320" cy="274320"/>
          </a:xfrm>
          <a:prstGeom prst="ellipse">
            <a:avLst/>
          </a:prstGeom>
          <a:solidFill>
            <a:srgbClr val="166E3A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43800" y="1399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49440" y="192024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Tests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49440" y="23591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9-10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69480" y="269748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9480" y="26974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SP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85800" y="3931920"/>
            <a:ext cx="7772400" cy="502920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 w="6350">
            <a:solidFill>
              <a:srgbClr val="166E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3931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Vélocité totale : 130 Story Points  •  Moyenne : 26 SP/Sprint  •  Rétrospectives après chaque sprint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MÉTHODOLOGIE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Moderne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71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280160"/>
            <a:ext cx="6217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135331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331720" y="1298448"/>
            <a:ext cx="5715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331720" y="1481328"/>
            <a:ext cx="5715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cross-platform iOS/Android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02920" y="205740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057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920240" y="196596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2039112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331720" y="19842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2331720" y="21671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principale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074920" y="196596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2039112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86400" y="19842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486400" y="21671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KYC/IA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502920" y="274320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02920" y="2743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INFRA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1920240" y="26517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392" y="2724912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331720" y="267004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2331720" y="28529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relationnelle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4023360" y="26517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6512" y="2724912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434840" y="267004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434840" y="28529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sessions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6126480" y="26517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272491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537960" y="267004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Nginx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6537960" y="28529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&amp; reverse proxy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502920" y="3291840"/>
            <a:ext cx="2697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12648" y="36210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666744"/>
            <a:ext cx="256032" cy="25603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051560" y="3383280"/>
            <a:ext cx="2039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50" dirty="0"/>
          </a:p>
        </p:txBody>
      </p:sp>
      <p:sp>
        <p:nvSpPr>
          <p:cNvPr id="43" name="Text 34"/>
          <p:cNvSpPr/>
          <p:nvPr/>
        </p:nvSpPr>
        <p:spPr>
          <a:xfrm>
            <a:off x="1051560" y="3593592"/>
            <a:ext cx="2039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+ AES-256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 bout en bout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3383280" y="3291840"/>
            <a:ext cx="2697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3493008" y="36210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8728" y="3666744"/>
            <a:ext cx="256032" cy="256032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3931920" y="3383280"/>
            <a:ext cx="2039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48" name="Text 38"/>
          <p:cNvSpPr/>
          <p:nvPr/>
        </p:nvSpPr>
        <p:spPr>
          <a:xfrm>
            <a:off x="3931920" y="3593592"/>
            <a:ext cx="2039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caching, requêtes &lt; 200ms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locking PostgreSQL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6263640" y="3291840"/>
            <a:ext cx="2697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6373368" y="36210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088" y="3666744"/>
            <a:ext cx="256032" cy="256032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6812280" y="3383280"/>
            <a:ext cx="2039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150" dirty="0"/>
          </a:p>
        </p:txBody>
      </p:sp>
      <p:sp>
        <p:nvSpPr>
          <p:cNvPr id="53" name="Text 42"/>
          <p:cNvSpPr/>
          <p:nvPr/>
        </p:nvSpPr>
        <p:spPr>
          <a:xfrm>
            <a:off x="6812280" y="3593592"/>
            <a:ext cx="2039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+ Prettier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147/151 tests Jest (97.4%)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Multi-Services Distribuée</a:t>
            </a:r>
            <a:endParaRPr lang="en-US" sz="2800" dirty="0"/>
          </a:p>
        </p:txBody>
      </p:sp>
      <p:pic>
        <p:nvPicPr>
          <p:cNvPr id="9" name="Image 0" descr="/Users/mohamed/Downloads/RohWinBghit_LaTeX_Complet/figures/fig_architectur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82296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INNOVATION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Biométrique KYC d'IA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54480" y="1508760"/>
            <a:ext cx="502920" cy="502920"/>
          </a:xfrm>
          <a:prstGeom prst="ellipse">
            <a:avLst/>
          </a:prstGeom>
          <a:solidFill>
            <a:srgbClr val="0F3A23"/>
          </a:solidFill>
          <a:ln w="19050">
            <a:solidFill>
              <a:srgbClr val="4CC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10312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26517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Document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2926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des données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d'identité depuis la CNI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(nom, prénom, n° carte)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1089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3383280" y="137160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34840" y="1508760"/>
            <a:ext cx="502920" cy="502920"/>
          </a:xfrm>
          <a:prstGeom prst="ellipse">
            <a:avLst/>
          </a:prstGeom>
          <a:solidFill>
            <a:srgbClr val="0F3A23"/>
          </a:solidFill>
          <a:ln w="19050">
            <a:solidFill>
              <a:srgbClr val="4CC0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348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103120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83280" y="26517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 Match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520440" y="2926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faciale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CNI vs selfie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: 0.65 (conducteur)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59893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6263640" y="137160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315200" y="1508760"/>
            <a:ext cx="502920" cy="502920"/>
          </a:xfrm>
          <a:prstGeom prst="ellipse">
            <a:avLst/>
          </a:prstGeom>
          <a:solidFill>
            <a:srgbClr val="0F3A23"/>
          </a:solidFill>
          <a:ln w="19050">
            <a:solidFill>
              <a:srgbClr val="4CC08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31520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10312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63640" y="26517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Detection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400800" y="2926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vivacité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 temps réel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 des photos/vidéos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85800" y="379476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0F3A23"/>
          </a:solidFill>
          <a:ln w="6350">
            <a:solidFill>
              <a:srgbClr val="4CC08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85800" y="3794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de confiance :  Conducteur ≥ 0.65  |  Passager ≥ 0.60  |  Temps de traitement &lt; 3 secondes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63F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CONCEPTION &amp; MODÉLISATION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A1F14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15/31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1463040"/>
            <a:ext cx="1828800" cy="1828800"/>
          </a:xfrm>
          <a:prstGeom prst="ellipse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  <a:effectLst>
            <a:outerShdw sx="100000" sy="100000" kx="0" ky="0" algn="bl" rotWithShape="0" blurRad="152400" dist="38100" dir="108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14630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1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840480" y="16459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Modélisation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840480" y="2743200"/>
            <a:ext cx="2743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sont les modèles UML 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d'Utilisation Global</a:t>
            </a:r>
            <a:endParaRPr lang="en-US" sz="3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0392" y="129844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50392" y="14630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Recherche, réserve, évalue</a:t>
            </a:r>
            <a:endParaRPr lang="en-US" sz="7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32588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67712" y="129844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Conducteur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2267712" y="14630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Publie, gère, KYC</a:t>
            </a:r>
            <a:endParaRPr lang="en-US" sz="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32588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85032" y="129844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3685032" y="14630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Vérifie, modère, analytics</a:t>
            </a:r>
            <a:endParaRPr lang="en-US" sz="750" dirty="0"/>
          </a:p>
        </p:txBody>
      </p:sp>
      <p:pic>
        <p:nvPicPr>
          <p:cNvPr id="18" name="Image 3" descr="/Users/mohamed/Downloads/RohWinBghit_LaTeX_Complet/figures/fig_use_cas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" y="1737360"/>
            <a:ext cx="82296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Relationnel de Données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 •  Trip  •  Booking  •  Identity  •  Payment  •  Vehicle  •  Review</a:t>
            </a:r>
            <a:endParaRPr lang="en-US" sz="1100" dirty="0"/>
          </a:p>
        </p:txBody>
      </p:sp>
      <p:pic>
        <p:nvPicPr>
          <p:cNvPr id="10" name="Image 0" descr="/Users/mohamed/Downloads/RohWinBghit_LaTeX_Complet/figures/fig_class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Topologie du Déploiement Cloud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• Nginx Reverse Proxy • PostgreSQL • Redis • FastAPI • Node.js</a:t>
            </a:r>
            <a:endParaRPr lang="en-US" sz="1000" dirty="0"/>
          </a:p>
        </p:txBody>
      </p:sp>
      <p:pic>
        <p:nvPicPr>
          <p:cNvPr id="10" name="Image 0" descr="/Users/mohamed/Downloads/RohWinBghit_LaTeX_Complet/figures/fig_deployment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3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63F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RÉSULTATS &amp; VALIDATION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A1F14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19/31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1463040"/>
            <a:ext cx="1828800" cy="1828800"/>
          </a:xfrm>
          <a:prstGeom prst="ellipse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  <a:effectLst>
            <a:outerShdw sx="100000" sy="100000" kx="0" ky="0" algn="bl" rotWithShape="0" blurRad="152400" dist="38100" dir="108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14630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1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840480" y="16459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Validation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840480" y="2743200"/>
            <a:ext cx="2743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Qu'avons-nous obtenu 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RÉSULTATS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 de Réussite aux Tests Automatisés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147/151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réussis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1417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4114800" cy="320040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691640"/>
            <a:ext cx="4114800" cy="320040"/>
          </a:xfrm>
          <a:prstGeom prst="roundRect">
            <a:avLst>
              <a:gd name="adj" fmla="val 14286"/>
            </a:avLst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/ 107  (100%)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21945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d'Intégration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2468880"/>
            <a:ext cx="4114800" cy="320040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2468880"/>
            <a:ext cx="3740727" cy="320040"/>
          </a:xfrm>
          <a:prstGeom prst="roundRect">
            <a:avLst>
              <a:gd name="adj" fmla="val 14286"/>
            </a:avLst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468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44  (90.9%)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063240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1089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échecs : Timeouts réseau sur les tests d'intégration API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timeouts sur les tests de réservation concurrente (race condition en CI)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timeouts sur les tests de notification push (dépendance réseau externe)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Aucun bug fonctionnel : tous les échecs sont liés à l'environnement CI, non au code.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06908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201168" cy="20116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77240" y="411480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Profils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77240" y="431596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tests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194560" y="406908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4160520"/>
            <a:ext cx="201168" cy="20116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2468880" y="411480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Trajets &amp; Réservation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2468880" y="431596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tests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3886200" y="406908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4160520"/>
            <a:ext cx="201168" cy="2011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160520" y="411480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KYC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4160520" y="431596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tests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5577840" y="406908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4160520"/>
            <a:ext cx="201168" cy="20116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852160" y="411480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5852160" y="431596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tests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7269480" y="406908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160520"/>
            <a:ext cx="201168" cy="20116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543800" y="411480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41" name="Text 34"/>
          <p:cNvSpPr/>
          <p:nvPr/>
        </p:nvSpPr>
        <p:spPr>
          <a:xfrm>
            <a:off x="7543800" y="431596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tests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RÉSULTATS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SUS de 71.6 : Usabilité Validée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80160" y="1554480"/>
            <a:ext cx="1554480" cy="1554480"/>
          </a:xfrm>
          <a:prstGeom prst="ellipse">
            <a:avLst/>
          </a:prstGeom>
          <a:solidFill>
            <a:srgbClr val="E8F5E9"/>
          </a:solidFill>
          <a:ln w="38100">
            <a:solidFill>
              <a:srgbClr val="166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55448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71.6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1280160" y="2423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91640" y="3246120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32461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0" y="1417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par profil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0" y="1783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Passagers (N=10)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0" y="2011680"/>
            <a:ext cx="4114800" cy="27432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2011680"/>
            <a:ext cx="3053182" cy="274320"/>
          </a:xfrm>
          <a:prstGeom prst="roundRect">
            <a:avLst>
              <a:gd name="adj" fmla="val 16667"/>
            </a:avLst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2011680"/>
            <a:ext cx="30531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24231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Conducteurs (N=8)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06240" y="2651760"/>
            <a:ext cx="4114800" cy="27432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2651760"/>
            <a:ext cx="2835097" cy="274320"/>
          </a:xfrm>
          <a:prstGeom prst="roundRect">
            <a:avLst>
              <a:gd name="adj" fmla="val 16667"/>
            </a:avLst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2651760"/>
            <a:ext cx="28350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310896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3108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Échelle SUS : 0-50 Poor | 50-68 OK | 68-80 Good | 80+ Excellent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5800" y="388620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6350">
            <a:solidFill>
              <a:srgbClr val="166E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Écart Passager/Conducteur (5.3 pts) : le flux KYC conducteur est plus complexe — priorité UX pour v2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RÉSULTATS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Trois Hypothèses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1943100" cy="365760"/>
          </a:xfrm>
          <a:prstGeom prst="rect">
            <a:avLst/>
          </a:prstGeom>
          <a:solidFill>
            <a:srgbClr val="0F3A23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71600"/>
            <a:ext cx="1943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28900" y="1371600"/>
            <a:ext cx="1943100" cy="365760"/>
          </a:xfrm>
          <a:prstGeom prst="rect">
            <a:avLst/>
          </a:prstGeom>
          <a:solidFill>
            <a:srgbClr val="0F3A23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8900" y="1371600"/>
            <a:ext cx="1943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de Validation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1943100" cy="365760"/>
          </a:xfrm>
          <a:prstGeom prst="rect">
            <a:avLst/>
          </a:prstGeom>
          <a:solidFill>
            <a:srgbClr val="0F3A23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371600"/>
            <a:ext cx="1943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Empirique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15100" y="1371600"/>
            <a:ext cx="1943100" cy="365760"/>
          </a:xfrm>
          <a:prstGeom prst="rect">
            <a:avLst/>
          </a:prstGeom>
          <a:solidFill>
            <a:srgbClr val="0F3A23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5100" y="1371600"/>
            <a:ext cx="1943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1737360"/>
            <a:ext cx="7772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1828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182880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Biométrique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28900" y="17830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≥ 0.65 (conducteur), ≥ 0.60 (passager)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6918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Conducteur : 0.72  |  Passager : 0.68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86600" y="1938528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19385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VALIDÉE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" y="2423160"/>
            <a:ext cx="7772400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2514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251460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Usabilité SUS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28900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SUS ≥ 68/100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6918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global : 71.6/100 (Good)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086600" y="2624328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26243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VALIDÉE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5800" y="3108960"/>
            <a:ext cx="7772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32004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25880" y="320040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 API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28900" y="3154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≥ 99%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69180" y="3154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 tests Jest + circuit breaker actif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086600" y="3310128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86600" y="33101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PARTIELLE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5800" y="3886200"/>
            <a:ext cx="7772400" cy="594360"/>
          </a:xfrm>
          <a:prstGeom prst="roundRect">
            <a:avLst>
              <a:gd name="adj" fmla="val 12308"/>
            </a:avLst>
          </a:prstGeom>
          <a:solidFill>
            <a:srgbClr val="0F3A23"/>
          </a:solidFill>
          <a:ln w="6350">
            <a:solidFill>
              <a:srgbClr val="4CC0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3886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&amp; H2 pleinement validées  •  H3 partiellement validée (environnement sandbox)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Validation complète requiert un déploiement en production avec monitoring APM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63F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DÉMONSTRATION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A1F14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du Prototype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0A1F14"/>
          </a:solidFill>
          <a:ln w="12700">
            <a:solidFill>
              <a:srgbClr val="166E3A"/>
            </a:solidFill>
            <a:prstDash val="solid"/>
          </a:ln>
        </p:spPr>
      </p:sp>
      <p:pic>
        <p:nvPicPr>
          <p:cNvPr id="10" name="Image 0" descr="/Users/mohamed/Downloads/RohWinBghit_LaTeX_Complet/figures/v2_welcome_splas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" y="1463040"/>
            <a:ext cx="1773936" cy="2606040"/>
          </a:xfrm>
          <a:prstGeom prst="ellipse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343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51760" y="137160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0A1F14"/>
          </a:solidFill>
          <a:ln w="12700">
            <a:solidFill>
              <a:srgbClr val="166E3A"/>
            </a:solidFill>
            <a:prstDash val="solid"/>
          </a:ln>
        </p:spPr>
      </p:sp>
      <p:pic>
        <p:nvPicPr>
          <p:cNvPr id="13" name="Image 1" descr="/Users/mohamed/Downloads/RohWinBghit_LaTeX_Complet/figures/v2_role_selectio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24912" y="1463040"/>
            <a:ext cx="1773936" cy="2606040"/>
          </a:xfrm>
          <a:prstGeom prst="ellipse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51760" y="4343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800600" y="137160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0A1F14"/>
          </a:solidFill>
          <a:ln w="12700">
            <a:solidFill>
              <a:srgbClr val="166E3A"/>
            </a:solidFill>
            <a:prstDash val="solid"/>
          </a:ln>
        </p:spPr>
      </p:sp>
      <p:pic>
        <p:nvPicPr>
          <p:cNvPr id="16" name="Image 2" descr="/Users/mohamed/Downloads/RohWinBghit_LaTeX_Complet/figures/v2_search_result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73752" y="1463040"/>
            <a:ext cx="1773936" cy="2606040"/>
          </a:xfrm>
          <a:prstGeom prst="ellipse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0600" y="4343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949440" y="137160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0A1F14"/>
          </a:solidFill>
          <a:ln w="12700">
            <a:solidFill>
              <a:srgbClr val="166E3A"/>
            </a:solidFill>
            <a:prstDash val="solid"/>
          </a:ln>
        </p:spPr>
      </p:sp>
      <p:pic>
        <p:nvPicPr>
          <p:cNvPr id="19" name="Image 3" descr="/Users/mohamed/Downloads/RohWinBghit_LaTeX_Complet/Screen_mobile/QR scanné au départ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022592" y="1463040"/>
            <a:ext cx="1773936" cy="2606040"/>
          </a:xfrm>
          <a:prstGeom prst="ellipse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49440" y="4343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Départ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237744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45262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6751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DÉMONSTRATION EN DIRECT  —  Flux Passager Complet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3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63F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MODÈLE ÉCONOMIQUE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A1F14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24/31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1463040"/>
            <a:ext cx="1828800" cy="1828800"/>
          </a:xfrm>
          <a:prstGeom prst="ellipse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  <a:effectLst>
            <a:outerShdw sx="100000" sy="100000" kx="0" ky="0" algn="bl" rotWithShape="0" blurRad="152400" dist="38100" dir="108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14630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1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840480" y="16459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840480" y="2743200"/>
            <a:ext cx="2743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rentabiliser le projet ?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MODÈLE ÉCONOMIQUE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11480" y="1325880"/>
            <a:ext cx="1554480" cy="1691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325880"/>
            <a:ext cx="1554480" cy="256032"/>
          </a:xfrm>
          <a:prstGeom prst="rect">
            <a:avLst/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258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PARTENAIRES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" y="1618488"/>
            <a:ext cx="1408176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SATIM • Télécoms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0" y="132588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1325880"/>
            <a:ext cx="1417320" cy="256032"/>
          </a:xfrm>
          <a:prstGeom prst="rect">
            <a:avLst/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132588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ACTIVITÉS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84832" y="1618488"/>
            <a:ext cx="12710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11680" y="2176272"/>
            <a:ext cx="14173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2176272"/>
            <a:ext cx="1417320" cy="256032"/>
          </a:xfrm>
          <a:prstGeom prst="rect">
            <a:avLst/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21762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RESSOURCES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084832" y="2468880"/>
            <a:ext cx="127101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devs • VPS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IA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74720" y="1325880"/>
            <a:ext cx="1737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1325880"/>
            <a:ext cx="1737360" cy="256032"/>
          </a:xfrm>
          <a:prstGeom prst="rect">
            <a:avLst/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3258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VALEUR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47872" y="1618488"/>
            <a:ext cx="1591056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Covoiturage KYC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wilayas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local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transparent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257800" y="132588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7800" y="1325880"/>
            <a:ext cx="1417320" cy="256032"/>
          </a:xfrm>
          <a:prstGeom prst="rect">
            <a:avLst/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132588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30952" y="1618488"/>
            <a:ext cx="12710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in-app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mutuelle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257800" y="2176272"/>
            <a:ext cx="14173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57800" y="2176272"/>
            <a:ext cx="1417320" cy="256032"/>
          </a:xfrm>
          <a:prstGeom prst="rect">
            <a:avLst/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21762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CANAUX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30952" y="2468880"/>
            <a:ext cx="127101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mobiles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sociaux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720840" y="132588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1325880"/>
            <a:ext cx="1920240" cy="256032"/>
          </a:xfrm>
          <a:prstGeom prst="rect">
            <a:avLst/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13258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93992" y="1618488"/>
            <a:ext cx="1773936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310896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108960"/>
            <a:ext cx="3840480" cy="256032"/>
          </a:xfrm>
          <a:prstGeom prst="rect">
            <a:avLst/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1089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COÛTS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4632" y="3401568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VPS • API tiers • Marketing digital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97680" y="3108960"/>
            <a:ext cx="43434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97680" y="3108960"/>
            <a:ext cx="4343400" cy="256032"/>
          </a:xfrm>
          <a:prstGeom prst="rect">
            <a:avLst/>
          </a:prstGeom>
          <a:solidFill>
            <a:srgbClr val="0F3A23"/>
          </a:solidFill>
          <a:ln w="12700">
            <a:solidFill>
              <a:srgbClr val="0F3A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310896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70832" y="3401568"/>
            <a:ext cx="419709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12% • Abonnement Premium • Partenariats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85800" y="3977640"/>
            <a:ext cx="7772400" cy="45720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6350">
            <a:solidFill>
              <a:srgbClr val="166E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3977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inspiré du BMC de BlaBlaCar, adapté au contexte algérien (paiement local + KYC souverain)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MODÈLE ÉCONOMIQUE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Revenus &amp; Prévisions Financières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" y="163220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77924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1463040"/>
            <a:ext cx="2039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12%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51560" y="1673352"/>
            <a:ext cx="203911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chaque trajet réservé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la plateforme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83280" y="137160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93008" y="163220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67792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31920" y="1463040"/>
            <a:ext cx="2039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Driver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3931920" y="1673352"/>
            <a:ext cx="203911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mensuel 500 DA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prioritaire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63640" y="137160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A1F14">
                <a:alpha val="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73368" y="163220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677924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12280" y="1463040"/>
            <a:ext cx="2039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812280" y="1673352"/>
            <a:ext cx="203911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Stations-service, assurances,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opérateurs télécoms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0292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Prévisions sur 3 ans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85800" y="2788920"/>
            <a:ext cx="1943100" cy="320040"/>
          </a:xfrm>
          <a:prstGeom prst="rect">
            <a:avLst/>
          </a:prstGeom>
          <a:solidFill>
            <a:srgbClr val="0F3A23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85800" y="2788920"/>
            <a:ext cx="1943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2628900" y="2788920"/>
            <a:ext cx="1943100" cy="320040"/>
          </a:xfrm>
          <a:prstGeom prst="rect">
            <a:avLst/>
          </a:prstGeom>
          <a:solidFill>
            <a:srgbClr val="0F3A23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628900" y="2788920"/>
            <a:ext cx="1943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1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572000" y="2788920"/>
            <a:ext cx="1943100" cy="320040"/>
          </a:xfrm>
          <a:prstGeom prst="rect">
            <a:avLst/>
          </a:prstGeom>
          <a:solidFill>
            <a:srgbClr val="0F3A23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572000" y="2788920"/>
            <a:ext cx="1943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2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515100" y="2788920"/>
            <a:ext cx="1943100" cy="320040"/>
          </a:xfrm>
          <a:prstGeom prst="rect">
            <a:avLst/>
          </a:prstGeom>
          <a:solidFill>
            <a:srgbClr val="0F3A23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515100" y="2788920"/>
            <a:ext cx="19431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3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85800" y="3108960"/>
            <a:ext cx="19431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85800" y="3108960"/>
            <a:ext cx="19431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actifs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2628900" y="3108960"/>
            <a:ext cx="19431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628900" y="3108960"/>
            <a:ext cx="19431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4572000" y="3108960"/>
            <a:ext cx="19431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572000" y="3108960"/>
            <a:ext cx="19431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6515100" y="3108960"/>
            <a:ext cx="19431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515100" y="3108960"/>
            <a:ext cx="19431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80 000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85800" y="3456432"/>
            <a:ext cx="19431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85800" y="3456432"/>
            <a:ext cx="19431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Trajets/mois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2628900" y="3456432"/>
            <a:ext cx="19431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2628900" y="3456432"/>
            <a:ext cx="19431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4572000" y="3456432"/>
            <a:ext cx="19431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572000" y="3456432"/>
            <a:ext cx="19431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6515100" y="3456432"/>
            <a:ext cx="19431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515100" y="3456432"/>
            <a:ext cx="19431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40 000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685800" y="3803904"/>
            <a:ext cx="19431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85800" y="3803904"/>
            <a:ext cx="19431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estimé (DA)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2628900" y="3803904"/>
            <a:ext cx="19431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628900" y="3803904"/>
            <a:ext cx="19431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3.6M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4572000" y="3803904"/>
            <a:ext cx="19431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4572000" y="3803904"/>
            <a:ext cx="19431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21.6M</a:t>
            </a:r>
            <a:endParaRPr lang="en-US" sz="950" dirty="0"/>
          </a:p>
        </p:txBody>
      </p:sp>
      <p:sp>
        <p:nvSpPr>
          <p:cNvPr id="55" name="Shape 50"/>
          <p:cNvSpPr/>
          <p:nvPr/>
        </p:nvSpPr>
        <p:spPr>
          <a:xfrm>
            <a:off x="6515100" y="3803904"/>
            <a:ext cx="19431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515100" y="3803904"/>
            <a:ext cx="19431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72M</a:t>
            </a:r>
            <a:endParaRPr lang="en-US" sz="950" dirty="0"/>
          </a:p>
        </p:txBody>
      </p:sp>
      <p:sp>
        <p:nvSpPr>
          <p:cNvPr id="57" name="Shape 52"/>
          <p:cNvSpPr/>
          <p:nvPr/>
        </p:nvSpPr>
        <p:spPr>
          <a:xfrm>
            <a:off x="685800" y="4151376"/>
            <a:ext cx="19431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685800" y="4151376"/>
            <a:ext cx="19431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rentabilité</a:t>
            </a:r>
            <a:endParaRPr lang="en-US" sz="950" dirty="0"/>
          </a:p>
        </p:txBody>
      </p:sp>
      <p:sp>
        <p:nvSpPr>
          <p:cNvPr id="59" name="Shape 54"/>
          <p:cNvSpPr/>
          <p:nvPr/>
        </p:nvSpPr>
        <p:spPr>
          <a:xfrm>
            <a:off x="2628900" y="4151376"/>
            <a:ext cx="19431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2628900" y="4151376"/>
            <a:ext cx="19431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1" name="Shape 56"/>
          <p:cNvSpPr/>
          <p:nvPr/>
        </p:nvSpPr>
        <p:spPr>
          <a:xfrm>
            <a:off x="4572000" y="4151376"/>
            <a:ext cx="19431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4572000" y="4151376"/>
            <a:ext cx="19431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Atteint</a:t>
            </a:r>
            <a:endParaRPr lang="en-US" sz="950" dirty="0"/>
          </a:p>
        </p:txBody>
      </p:sp>
      <p:sp>
        <p:nvSpPr>
          <p:cNvPr id="63" name="Shape 58"/>
          <p:cNvSpPr/>
          <p:nvPr/>
        </p:nvSpPr>
        <p:spPr>
          <a:xfrm>
            <a:off x="6515100" y="4151376"/>
            <a:ext cx="19431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6515100" y="4151376"/>
            <a:ext cx="19431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MODÈLE ÉCONOMIQUE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 Intellectuelle &amp; Protection Légale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7772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76200" dist="12700" dir="8100000">
              <a:srgbClr val="0A1F14">
                <a:alpha val="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618488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166E3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728216"/>
            <a:ext cx="420624" cy="4206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8308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— Enregistrement du Code Source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132320" y="1600200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0" y="16002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Obtenu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783080" y="1874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officiel du code source complet de la plateforme RohWinBghit auprès de l'Office National des Droits d'Auteur et Droits Voisins.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85800" y="2788920"/>
            <a:ext cx="7772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  <a:effectLst>
            <a:outerShdw sx="100000" sy="100000" kx="0" ky="0" algn="bl" rotWithShape="0" blurRad="76200" dist="12700" dir="8100000">
              <a:srgbClr val="0A1F14">
                <a:alpha val="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14400" y="2990088"/>
            <a:ext cx="640080" cy="640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166E3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099816"/>
            <a:ext cx="420624" cy="4206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78308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INAPI — Dépôt de Marque Commerciale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7132320" y="2971800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32320" y="29718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783080" y="3246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de la marque « RohWinBghit » et du logo auprès de l'Institut National Algérien de la Propriété Industrielle.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85800" y="3886200"/>
            <a:ext cx="7772400" cy="594360"/>
          </a:xfrm>
          <a:prstGeom prst="roundRect">
            <a:avLst>
              <a:gd name="adj" fmla="val 12308"/>
            </a:avLst>
          </a:prstGeom>
          <a:solidFill>
            <a:srgbClr val="0F3A23"/>
          </a:solidFill>
          <a:ln w="6350">
            <a:solidFill>
              <a:srgbClr val="4CC08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5800" y="3886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IP : Code protégé (ONDA) + Marque déposée (INAPI) + Licence MIT pour la communauté open source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3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63F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 &amp; PERSPECTIVES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A1F14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28/31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1463040"/>
            <a:ext cx="1828800" cy="1828800"/>
          </a:xfrm>
          <a:prstGeom prst="ellipse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  <a:effectLst>
            <a:outerShdw sx="100000" sy="100000" kx="0" ky="0" algn="bl" rotWithShape="0" blurRad="152400" dist="38100" dir="108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14630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1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840480" y="16459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840480" y="2743200"/>
            <a:ext cx="2743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bilan ? Quelles perspectives ?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Contributions Académiques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3619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4447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 Confiance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71600" y="171907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pipeline KYC biométrique (OCR + ArcFace + Liveness) adapté au marché algérien de la mobilité.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5800" y="2240280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E7ECE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0487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23134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Souveraine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371600" y="25877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d'IA traitant les données localement en conformité avec la Loi 25-11, sans transfert transfrontalier.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85800" y="3108960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7355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182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Monétique Locale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371600" y="34564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SATIM/Edahabia/CIB, première plateforme de covoiturage avec paiement électronique algérien.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85800" y="3977640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E7ECE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4223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40507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Empirique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371600" y="432511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 tests Jest réussis + SUS 71.6/100 validant l'approche technique et l'expérience utilisateur.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ECEA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F3A23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30/31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Perspectives d'Évolution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4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LIMITES IDENTIFIÉES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645920"/>
            <a:ext cx="3840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459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6459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en mode sandbox (non connecté à la production SATIM)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148840"/>
            <a:ext cx="3840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1488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1488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 SUS limité (N=18 utilisateurs)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651760"/>
            <a:ext cx="3840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517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651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charge non réalisés en conditions réelles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154680"/>
            <a:ext cx="3840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7E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546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1546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KYC testé sur dataset restreint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132588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66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PERSPECTIVES FUTURES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645920"/>
            <a:ext cx="397764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6350">
            <a:solidFill>
              <a:srgbClr val="166E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6459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1645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dynamique (surge pricing) par ML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148840"/>
            <a:ext cx="397764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6350">
            <a:solidFill>
              <a:srgbClr val="166E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1488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2148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pilote : Tlemcen → Oran → Alger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651760"/>
            <a:ext cx="397764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6350">
            <a:solidFill>
              <a:srgbClr val="166E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6517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2651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paiement production SATIM/CIB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154680"/>
            <a:ext cx="397764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6350">
            <a:solidFill>
              <a:srgbClr val="166E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1546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74920" y="3154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vers le transport de colis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" y="3794760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0F3A23"/>
          </a:solidFill>
          <a:ln w="6350">
            <a:solidFill>
              <a:srgbClr val="4CC0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794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: Devenir la référence algérienne du covoiturage sécurisé inter-wilayas,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démocratisant la mobilité partagée à travers les 69 wilayas du pays.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3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365760"/>
            <a:ext cx="4114800" cy="4114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163F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292608" cy="32004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47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55280" y="34747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A1F14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34747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31/31</a:t>
            </a:r>
            <a:endParaRPr lang="en-US" sz="900" dirty="0"/>
          </a:p>
        </p:txBody>
      </p:sp>
      <p:pic>
        <p:nvPicPr>
          <p:cNvPr id="8" name="Image 0" descr="/Users/mohamed/Downloads/RohWinBghit_LaTeX_Complet/Screen_mobile/logo_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097280"/>
            <a:ext cx="1280160" cy="1280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3657600" y="3154680"/>
            <a:ext cx="182880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80160" y="3337560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80160" y="3575304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BACHA Djamel Eddine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80160" y="3831336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BELHORMA Sidi Mohammed Reduane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62856" y="3429000"/>
            <a:ext cx="9144" cy="502920"/>
          </a:xfrm>
          <a:prstGeom prst="rect">
            <a:avLst/>
          </a:prstGeom>
          <a:solidFill>
            <a:srgbClr val="166E3A"/>
          </a:solidFill>
          <a:ln w="12700">
            <a:solidFill>
              <a:srgbClr val="166E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55464" y="3337560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55464" y="3575304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Mme BENLEDGHEM Rafika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55464" y="3831336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 d'Informatique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de Tlemcen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0" y="4425696"/>
            <a:ext cx="9144000" cy="713232"/>
          </a:xfrm>
          <a:prstGeom prst="rect">
            <a:avLst/>
          </a:prstGeom>
          <a:solidFill>
            <a:srgbClr val="4CC080"/>
          </a:solidFill>
          <a:ln w="12700">
            <a:solidFill>
              <a:srgbClr val="4CC0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0" y="4425696"/>
            <a:ext cx="9144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Demandez le mémoire complet ou une démonstration en direct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RohWinBghit — Présentation de Soutenance Master 2 GL</dc:title>
  <dc:subject>PptxGenJS Presentation</dc:subject>
  <dc:creator>AHMED BACHA Djamel Eddine &amp; BELHORMA Sidi Mohammed Reduane</dc:creator>
  <cp:lastModifiedBy>AHMED BACHA Djamel Eddine &amp; BELHORMA Sidi Mohammed Reduane</cp:lastModifiedBy>
  <cp:revision>1</cp:revision>
  <dcterms:created xsi:type="dcterms:W3CDTF">2026-06-06T20:04:07Z</dcterms:created>
  <dcterms:modified xsi:type="dcterms:W3CDTF">2026-06-06T20:04:07Z</dcterms:modified>
</cp:coreProperties>
</file>